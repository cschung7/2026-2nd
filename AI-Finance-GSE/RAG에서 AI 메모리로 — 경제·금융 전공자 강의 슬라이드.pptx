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1B5E7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262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NapMem 9B + RL</c:v>
                  </c:pt>
                  <c:pt idx="1">
                    <c:v>NapMem 397B (무학습)</c:v>
                  </c:pt>
                  <c:pt idx="2">
                    <c:v>Mem0</c:v>
                  </c:pt>
                  <c:pt idx="3">
                    <c:v>Zep</c:v>
                  </c:pt>
                  <c:pt idx="4">
                    <c:v>MemOS</c:v>
                  </c:pt>
                  <c:pt idx="5">
                    <c:v>AgeMem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62.74</c:v>
                </c:pt>
                <c:pt idx="1">
                  <c:v>59.85</c:v>
                </c:pt>
                <c:pt idx="2">
                  <c:v>59.25</c:v>
                </c:pt>
                <c:pt idx="3">
                  <c:v>53.96</c:v>
                </c:pt>
                <c:pt idx="4">
                  <c:v>49.24</c:v>
                </c:pt>
                <c:pt idx="5">
                  <c:v>40.18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23262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majorGridlines>
          <c:spPr>
            <a:ln w="6350" cap="flat">
              <a:solidFill>
                <a:srgbClr val="E3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62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7F6F2"/>
        </a:solidFill>
        <a:ln>
          <a:noFill/>
        </a:ln>
        <a:effectLst/>
      </c:spPr>
    </c:plotArea>
    <c:plotVisOnly val="1"/>
    <c:dispBlanksAs val="span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607.05794" TargetMode="Externa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79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경제·금융 전공자를 위한 AI 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RAG에서 AI 메모리로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3C7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“찾아주는 AI”에서 “맥락을 기억하고 검증하는 AI”로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3C7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경제·금융 전공자를 위한 강의  |  권장 40분  |  사례 논문: NapMem (Xu et al., 2026)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“기억한다”는 말은 무엇을 뜻할까?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검색(Retrieval)의 질문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 이 질문에 관련된 문서는 무엇인가?”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찾아 근거로 삼아 답한다.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794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기억(Memory)의 질문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사용자·프로젝트에 대해 무엇을 알고 있는가?”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축적·갱신·검증하며 답한다.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solidFill>
            <a:srgbClr val="1420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검색만으로는 부족하다. 장기 업무에서는 기억의 축적 · 갱신 · 검증 · 선택적 활용이 필요하다.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한계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끝나면 맥락도 함께 사라진다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현재 입력된 문맥(context) 안에서만 답한다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보고서·과거 회의·이전 대화가 입력창 밖이면 알 수 없다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전체 자료를 넣으면 비용·지연·오류가 함께 커진다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조직에 비유하면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유능하지만 회의록을 보관하지 않는 신입 애널리스트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 문서함에서 관련 자료를 찾아 주는 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노트를 축적하고 최신 상태로 관리·검증하는 체계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 = 검색 + 생성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783080" cy="777240"/>
          </a:xfrm>
          <a:prstGeom prst="rect">
            <a:avLst/>
          </a:prstGeom>
          <a:solidFill>
            <a:srgbClr val="14202E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3716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783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문서 검색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3716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783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근거 제공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371600"/>
            <a:ext cx="228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371600"/>
            <a:ext cx="1783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3794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리서치 예시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“지난주 미국 CPI가 한국 증시에 미칠 영향은?”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대상: CPI 발표자료, 시장 코멘트, 과거 리서치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LLM: 찾은 자료로 요약·비교·설명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3794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장점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94436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문서와 내부 자료를 그대로 활용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재학습 없이 지식 연결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 근거 문서(citation)를 붙이기 쉬움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어떻게 작동하는가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조각내어 “의미가 가까운 것”을 찾는다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리서치 예시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수집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문서·뉴스·보고서 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실적발표, 공시, 산업 리포트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분할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문서를 작은 단위로 나눔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‘반도체 CAPEX’ 관련 문단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색인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의미를 수치 벡터로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주제 문단을 가깝게 배치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가까운 문단을 찾음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‘HBM 수요’ 관련 자료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결과를 근거로 답변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 포인트와 리스크 요약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품질이 낮으면 답변도 함께 흔들린다 — RAG의 성능은 사실상 검색의 성능이다.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RAG가 잘하는 일과 못하는 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자료에서 답을 찾아라”에는 강하다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333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특정 문서·규정·리포트 요약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최신 뉴스·공시·실적 기반 Q&amp;A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사내 규정, 상품 설명서 검색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여러 문서의 유사점·차이점 비교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“A사 2분기 마진 가이던스는 어떻게 바뀌었나?”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794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3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부족해지는 순간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333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선호 파악: 고객 성향을 매번 다시 추론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 변화: 과거 사실과 최신 사실이 뒤섞임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반복 프로젝트: 가설·결론·반론의 흐름 관리 곤란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 검증: 요약이 원문과 일치하는지 재확인 필요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“지난 분기 내 반도체 가설 중 무엇이 틀렸나?”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메모리란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장기적인 업무·사용자 맥락의 운영 체계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사실·선호·지시·사건을 남긴다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대신 재사용 가능한 핵심 기록을 만든다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정보가 이전 정보를 바꾸면 수정·병합·폐기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맞는 기억을 찾는다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원문까지 내려가 확인한다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265176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사용자·고객·프로젝트에 맞춰 답한다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메모리는 “더 많이 저장하는 데이터베이스”가 아니라, 무엇을 어떤 수준에서 꺼내고 믿을지 관리하는 체계다.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RAG와 Memory 비교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대체재가 아니라 확장판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Memory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관련 문서를 찾을까?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기억하고 어떻게 확인할까?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조각(chunk)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사실·사건·선호·지시·주제 흐름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질문 중심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과거–현재의 변화와 지속성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결과를 한 번 제공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→ 기록 → 원문으로 탐색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리스크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엉뚱한 문서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오래된 기억, 잘못된 요약, 과도한 개인화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질의응답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연속성·개인화·재사용·의사결정 맥락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경제·금융으로 옮겨 보면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자료 검색, Memory는 관리된 리서치 노트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RAG형 질문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3337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“2026년 반도체 업황 보고서에서 HBM 수요 전망을 요약해 줘.”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관련 보고서를 검색하고 핵심 문단을 요약하면 끝난다.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794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Memory형 질문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3337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지난 분기에 세운 반도체 투자 가설 중 무엇이 틀렸고, 다음 투자위원회에서 무엇을 수정해야 할까?”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과거 가설, 당시 근거와 반대 의견, 이후 발표된 실적·가격·CAPEX, 나의 리스크 한도, 원문 재검증이 모두 필요하다.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질문은 문서를 찾는 문제가 아니라, 시간에 따라 축적된 판단의 맥락을 관리하는 문제다.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메모리의 층위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정보를 여러 해상도로 보관한다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1325880"/>
            <a:ext cx="4846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325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/ 프로젝트 프로필 — 장기 목표, 안정적 선호, 반복 패턴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45920" y="2103120"/>
            <a:ext cx="58521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1031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주제별 트랙 — “미국 금리”, “반도체”, “고객 포트폴리오”의 시간 흐름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2880360"/>
            <a:ext cx="6858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880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기록 — 개별 사실, 사건, 지시, 선호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863840" cy="658368"/>
          </a:xfrm>
          <a:prstGeom prst="rect">
            <a:avLst/>
          </a:prstGeom>
          <a:solidFill>
            <a:srgbClr val="14202E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대화 · 문서 · 회의록 — 가장 상세한 검증 근거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개요는 위층이 효율적이고, 정확한 수치·발언은 아래층이 필요하다.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논문: NapMem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수동적 검색에서 능동적 메모리 탐색으로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863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정보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Passive Retrieval to Active Memory Navigation: Learning to Use Memory as a Structured Action Space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Yue Xu 외 · 2026년 7월 arXiv 공개 · 제안 시스템: NapMem (Navigate over Pyramid Memory)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863840" cy="1463040"/>
          </a:xfrm>
          <a:prstGeom prst="rect">
            <a:avLst/>
          </a:prstGeom>
          <a:solidFill>
            <a:srgbClr val="1420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한 문장으로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골라진 검색 결과를 받기만 하지 말고, 질문과 중간 증거에 따라 어떤 층위의 기억을 더 확인할지 AI가 스스로 결정하게 하자.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NapMem의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이력을 네 층의 메모리 피라미드로 구성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업무 예시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원본 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메시지, 시간, 화자, 원문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투자위원회 발언, 고객 통화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메모리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사실·사건·지시·선호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“고객 A는 변동성 15% 초과를 원치 않음”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주제 트랙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주제의 장기 변화와 맥락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“한국 반도체 공급망” 가설 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사용자 프로필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안정적 특성과 패턴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 성향, 선호 산업, 보고서 스타일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요약은 하위 근거와 연결되어 있어, 요약 → 기록 → 원문으로 내려가 검증할 수 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NapMem의 탐색 방식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다음에 무엇을 확인할지 스스로 고른다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도착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확인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요약 열람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검색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검증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4023360" cy="457200"/>
          </a:xfrm>
          <a:prstGeom prst="rect">
            <a:avLst/>
          </a:prstGeom>
          <a:solidFill>
            <a:srgbClr val="14202E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충분 → 답변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0" y="132588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1892808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NapMem은 기록 검색, 정확한 기록 조회, 원본 대화 검색, 원문 조회, 상위 요약 열람 같은 도구를 사용한다.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필요한 층위가 다르므로, 위에서 아래로 또는 아래에서 위로 탐색한다.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“결과를 받는다”에서 “증거가 충분한지 판단하며 찾아간다”로의 전환.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사례: 고객 포트폴리오 질의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 A에게 장기국채 비중 확대를 권할 때 기존 원칙과 충돌하는 점은?”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1480" cy="502920"/>
          </a:xfrm>
          <a:prstGeom prst="rect">
            <a:avLst/>
          </a:prstGeom>
          <a:solidFill>
            <a:srgbClr val="1B5E7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 </a:t>
            </a: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A는 자본손실 회피 성향이 강한가?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411480" cy="502920"/>
          </a:xfrm>
          <a:prstGeom prst="rect">
            <a:avLst/>
          </a:prstGeom>
          <a:solidFill>
            <a:srgbClr val="1B5E7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트랙  </a:t>
            </a: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전망과 채권 논의가 최근 어떻게 바뀌었나?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411480" cy="502920"/>
          </a:xfrm>
          <a:prstGeom prst="rect">
            <a:avLst/>
          </a:prstGeom>
          <a:solidFill>
            <a:srgbClr val="1B5E7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검색  </a:t>
            </a: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듀레이션·최대손실·유동성 조건 관련 사실과 지시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411480" cy="502920"/>
          </a:xfrm>
          <a:prstGeom prst="rect">
            <a:avLst/>
          </a:prstGeom>
          <a:solidFill>
            <a:srgbClr val="1B5E7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337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검증  </a:t>
            </a: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미팅에서 고객이 말한 조건을 원문으로 확인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411480" cy="502920"/>
          </a:xfrm>
          <a:prstGeom prst="rect">
            <a:avLst/>
          </a:prstGeom>
          <a:solidFill>
            <a:srgbClr val="1B5E7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 </a:t>
            </a: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+ 충돌 지점 + 추가 확인 질문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“장기국채 전망”을 설명하지 않고, 고객의 이전 결정 맥락과 최신 상황을 함께 본다.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“찾는 방법”도 훈련할 수 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강화학습으로 메모리 사용 정책을 학습한다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94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보상하는가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답변 형식이 맞는가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답변이 정확한가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메모리 도구를 적절히 사용했는가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정해진 호출 횟수 안에 해결했는가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실험에서는 질의당 최대 4회의 메모리 도구 호출을 허용했다.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794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직관: 좋은 애널리스트처럼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92808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모든 파일을 읽지 않는다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필요한 자료를 빠르게 찾는다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불확실하면 원문을 확인한다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근거가 충분하면 조사를 멈춘다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NapMem은 이 “조사 경로” 자체를 학습한다.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구조보다 사용 정책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모델도 메모리 사용법을 배우면 더 잘한다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3444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80760" y="1801368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사용자 메모리 벤치마크 3종(LoCoMo, LongMemEval, PersonaMem-v2) 평균 점수.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 모델이 강화학습으로 탐색 정책을 배우면 397B 무학습 모델을 앞섰다.</a:t>
            </a: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모델이 아니라, 적절한 기억 층위를 고르는 학습된 정책이 성능을 만든다.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효율성: 더 적게, 더 정확하게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 모델에서 강화학습 적용 전후 비교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468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2.15회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도구 호출 (미적용 3.97회)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34.92%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적중률 (미적용 20.66%)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468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4.83 GiB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저장공간 (Mem0 10.44 / MemOS 23.10)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메모리를 많이 호출하는 것이 곧 능력은 아니다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정보를 정확히 찾고, 충분해지면 멈추는 것이 중요하다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비용도 함께 줄었다 — 잘 정리된 기억은 더 가볍다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업무에 주는 시사점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“리서치 Copilot”에서 “연속성 있는 리서치 에이전트”로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영역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중심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 중심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 분석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공시·실적자료 질의응답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가설·체크포인트·반증 증거의 시간 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자문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설명서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제약·선호·과거 결정과 연결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규정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경보·조치·예외 승인·미해결 이슈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모니터링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정책·뉴스 요약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변화가 기존 시나리오에 주는 영향 누적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투자위원회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결론·담당자·근거·후속 과제 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AI가 더 많이 말하게 하는 것이 아니라, 조직의 판단 과정을 더 일관되고 검증 가능하게 만드는 것이다.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금융권 설계 원칙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메모리는 편리함보다 거버넌스가 먼저다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근거 연결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요약·기록은 문서·대화·공시·데이터로 추적 가능해야 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유효성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470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“언제 사실이었는가”를 기록한다 — 성향·한도는 변한다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33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분리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/ 의견 / 지시를 다른 유형으로 관리한다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450592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33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권한·개인정보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고객정보·미공개정보는 접근 권한과 보존 기간을 분리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039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삭제·정정 가능성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187952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기억은 영구 저장이 아니라 정정·폐기·감사 가능한 기록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621024"/>
            <a:ext cx="379476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039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답변과 근거 분리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4187952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해석과 원천 근거를 구분해 보여 준다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오해와 위험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“메모리가 있으면 AI가 사람처럼 이해한다”? 아니다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94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3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오래된 정보: 과거 가정이 지금도 맞는가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잘못된 압축: 원문 뉘앙스가 사라진다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허위 연결: 무관한 기억을 억지로 잇는다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개인정보: 너무 많이 기억하면 위험해진다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확증편향: 과거 가설만 반복 강화한다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794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92808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출처·시간·신뢰도·변경 이력을 함께 저장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중요한 답변은 원문 인용과 사람의 검토를 요구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기억을 “사실”로 단정하지 말고 검증 대상으로 취급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개인화 범위와 보존 기간을 사전에 정의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도입 로드맵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RAG에서 Memory로 한 번에 점프하지 말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근거 있는 RAG   </a:t>
            </a:r>
            <a:r>
              <a:rPr lang="en-US" sz="12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출처·발행일·버전 표시, 검색 실패 측정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구조화된 기록   </a:t>
            </a:r>
            <a:r>
              <a:rPr lang="en-US" sz="12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/ 가설 / 결정 / 액션을 유형별로 저장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시간·갱신 관리   </a:t>
            </a:r>
            <a:r>
              <a:rPr lang="en-US" sz="12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변경된 가정, 철회된 판단, 최신 우선 규칙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· 능동 탐색   </a:t>
            </a:r>
            <a:r>
              <a:rPr lang="en-US" sz="12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난이도에 따라 요약→기록→원문 선택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solidFill>
            <a:srgbClr val="14202E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· 통제된 개인화   </a:t>
            </a:r>
            <a:r>
              <a:rPr lang="en-US" sz="1250" dirty="0">
                <a:solidFill>
                  <a:srgbClr val="D6DD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권한, 보존, 정정·삭제, 승인 절차 내장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미니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841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질문을 RAG형과 Memory형으로 나눠 보세요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오늘 공개된 FOMC 성명서의 핵심은?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우리 팀이 지난 세 번의 FOMC 직후 세운 환율 시나리오 중 어느 가정이 틀렸나?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 채권 상품의 중도환매 조건은?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이 고객에게 이 상품을 제안하면, 이전에 확인한 유동성 제약과 충돌하는가?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794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00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RAG형 — ①, 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844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최신 문서나 상품 문서에서 직접 찾을 수 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3017520"/>
            <a:ext cx="3794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200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Memory형 — ②, 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5844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판단, 사용자 제약, 시간 변화, 근거 검증을 함께 요구한다.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정리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77440" y="1280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지식을 찾아 LLM의 답변을 보강한다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21488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걸친 사실·선호·지시·판단 맥락을 축적·갱신·검증·활용한다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3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NapMem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3017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검색 결과가 아니라, AI가 상황에 맞게 탐색하는 “행동 공간”으로 본다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D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금융 AI는 모든 것을 기억하는 AI가 아니라, 무엇을 확인해야 하는지 알고 근거를 되짚으며 모르는 것을 구분하는 AI다.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질문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리서치에서 “기억해야 할 것”과 “그때그때 검색하면 되는 것”은 어떻게 구분할까?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투자 성향이 바뀌었다면, 과거 기억은 삭제해야 할까, 이력으로 남겨야 할까?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과거 투자위원회 결론을 근거로 의견을 낼 때, 사람은 무엇을 검토해야 할까?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 AI 메모리에서 가장 먼저 풀 문제는 정확성·개인정보·비용·책임 중 무엇일까?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566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참고자료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95020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32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Xu, Y. et al. (2026). From Passive Retrieval to Active Memory Navigation: Learning to Use Memory as a Structured Action Space. arXiv:2607.05794.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50" u="sng" dirty="0">
                <a:solidFill>
                  <a:srgbClr val="6B6F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 et al. (2026), arXiv:2607.05794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2026-09-17T22:44:13Z</dcterms:created>
  <dcterms:modified xsi:type="dcterms:W3CDTF">2026-09-17T22:44:13Z</dcterms:modified>
</cp:coreProperties>
</file>