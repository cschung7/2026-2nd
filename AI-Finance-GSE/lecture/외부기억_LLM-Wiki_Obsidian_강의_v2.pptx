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fb223616a74f8d" /><Relationship Type="http://schemas.openxmlformats.org/officeDocument/2006/relationships/extended-properties" Target="/docProps/app.xml" Id="R6f77bc61b69e483b" /><Relationship Type="http://schemas.openxmlformats.org/officeDocument/2006/relationships/officeDocument" Target="/ppt/presentation.xml" Id="Rd16570d86ab84cc3" /></Relationships>
</file>

<file path=ppt/presentation.xml><?xml version="1.0" encoding="utf-8"?>
<p:presentation xmlns:p="http://schemas.openxmlformats.org/presentationml/2006/main">
  <p:sldMasterIdLst>
    <p:sldMasterId xmlns:r="http://schemas.openxmlformats.org/officeDocument/2006/relationships" id="2147483648" r:id="R46adf477d6854198"/>
  </p:sldMasterIdLst>
  <p:notesMasterIdLst>
    <p:notesMasterId xmlns:r="http://schemas.openxmlformats.org/officeDocument/2006/relationships" r:id="R7cb466bf66b04bd9"/>
  </p:notesMasterIdLst>
  <p:sldIdLst>
    <p:sldId xmlns:r="http://schemas.openxmlformats.org/officeDocument/2006/relationships" id="256" r:id="R3925622641fc4c8b"/>
    <p:sldId xmlns:r="http://schemas.openxmlformats.org/officeDocument/2006/relationships" id="257" r:id="Rf09270cfef004987"/>
    <p:sldId xmlns:r="http://schemas.openxmlformats.org/officeDocument/2006/relationships" id="258" r:id="R9218aa5e4c864ead"/>
    <p:sldId xmlns:r="http://schemas.openxmlformats.org/officeDocument/2006/relationships" id="259" r:id="R28f1be30d732494e"/>
    <p:sldId xmlns:r="http://schemas.openxmlformats.org/officeDocument/2006/relationships" id="260" r:id="R223bebb8eb1f4b40"/>
    <p:sldId xmlns:r="http://schemas.openxmlformats.org/officeDocument/2006/relationships" id="261" r:id="Re3e1420f45d24461"/>
    <p:sldId xmlns:r="http://schemas.openxmlformats.org/officeDocument/2006/relationships" id="262" r:id="R2a0d421fd8e34dfd"/>
    <p:sldId xmlns:r="http://schemas.openxmlformats.org/officeDocument/2006/relationships" id="263" r:id="R1b815a75f3034092"/>
    <p:sldId xmlns:r="http://schemas.openxmlformats.org/officeDocument/2006/relationships" id="264" r:id="Rcd7f8e58866d4833"/>
    <p:sldId xmlns:r="http://schemas.openxmlformats.org/officeDocument/2006/relationships" id="265" r:id="R288aaba9bc2d45f9"/>
    <p:sldId xmlns:r="http://schemas.openxmlformats.org/officeDocument/2006/relationships" id="266" r:id="R58a4e9a001574c03"/>
    <p:sldId xmlns:r="http://schemas.openxmlformats.org/officeDocument/2006/relationships" id="267" r:id="R4dbdef2ddcb4411a"/>
    <p:sldId xmlns:r="http://schemas.openxmlformats.org/officeDocument/2006/relationships" id="268" r:id="R6bebf4fc2ada4a33"/>
    <p:sldId xmlns:r="http://schemas.openxmlformats.org/officeDocument/2006/relationships" id="269" r:id="Rb3ff979877c2430b"/>
    <p:sldId xmlns:r="http://schemas.openxmlformats.org/officeDocument/2006/relationships" id="270" r:id="R464f780e7ccc45d2"/>
    <p:sldId xmlns:r="http://schemas.openxmlformats.org/officeDocument/2006/relationships" id="271" r:id="Rb8c89a2492a742b8"/>
    <p:sldId xmlns:r="http://schemas.openxmlformats.org/officeDocument/2006/relationships" id="272" r:id="R995ef521ed2a4cf7"/>
    <p:sldId xmlns:r="http://schemas.openxmlformats.org/officeDocument/2006/relationships" id="273" r:id="R21e51d67275f4e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a646b5dffb4ed3" /><Relationship Type="http://schemas.openxmlformats.org/officeDocument/2006/relationships/slideMaster" Target="/ppt/slideMasters/slideMaster1.xml" Id="R46adf477d6854198" /><Relationship Type="http://schemas.openxmlformats.org/officeDocument/2006/relationships/notesMaster" Target="/ppt/notesMasters/notesMaster1.xml" Id="R7cb466bf66b04bd9" /><Relationship Type="http://schemas.openxmlformats.org/officeDocument/2006/relationships/presProps" Target="/ppt/presProps.xml" Id="Rdad2cae3237a478e" /><Relationship Type="http://schemas.openxmlformats.org/officeDocument/2006/relationships/tableStyles" Target="/ppt/tableStyles.xml" Id="R829c45c913614855" /><Relationship Type="http://schemas.openxmlformats.org/officeDocument/2006/relationships/slide" Target="/ppt/slides/slide1.xml" Id="R3925622641fc4c8b" /><Relationship Type="http://schemas.openxmlformats.org/officeDocument/2006/relationships/slide" Target="/ppt/slides/slide2.xml" Id="Rf09270cfef004987" /><Relationship Type="http://schemas.openxmlformats.org/officeDocument/2006/relationships/slide" Target="/ppt/slides/slide3.xml" Id="R9218aa5e4c864ead" /><Relationship Type="http://schemas.openxmlformats.org/officeDocument/2006/relationships/slide" Target="/ppt/slides/slide4.xml" Id="R28f1be30d732494e" /><Relationship Type="http://schemas.openxmlformats.org/officeDocument/2006/relationships/slide" Target="/ppt/slides/slide5.xml" Id="R223bebb8eb1f4b40" /><Relationship Type="http://schemas.openxmlformats.org/officeDocument/2006/relationships/slide" Target="/ppt/slides/slide6.xml" Id="Re3e1420f45d24461" /><Relationship Type="http://schemas.openxmlformats.org/officeDocument/2006/relationships/slide" Target="/ppt/slides/slide7.xml" Id="R2a0d421fd8e34dfd" /><Relationship Type="http://schemas.openxmlformats.org/officeDocument/2006/relationships/slide" Target="/ppt/slides/slide8.xml" Id="R1b815a75f3034092" /><Relationship Type="http://schemas.openxmlformats.org/officeDocument/2006/relationships/slide" Target="/ppt/slides/slide9.xml" Id="Rcd7f8e58866d4833" /><Relationship Type="http://schemas.openxmlformats.org/officeDocument/2006/relationships/slide" Target="/ppt/slides/slide10.xml" Id="R288aaba9bc2d45f9" /><Relationship Type="http://schemas.openxmlformats.org/officeDocument/2006/relationships/slide" Target="/ppt/slides/slide11.xml" Id="R58a4e9a001574c03" /><Relationship Type="http://schemas.openxmlformats.org/officeDocument/2006/relationships/slide" Target="/ppt/slides/slide12.xml" Id="R4dbdef2ddcb4411a" /><Relationship Type="http://schemas.openxmlformats.org/officeDocument/2006/relationships/slide" Target="/ppt/slides/slide13.xml" Id="R6bebf4fc2ada4a33" /><Relationship Type="http://schemas.openxmlformats.org/officeDocument/2006/relationships/slide" Target="/ppt/slides/slide14.xml" Id="Rb3ff979877c2430b" /><Relationship Type="http://schemas.openxmlformats.org/officeDocument/2006/relationships/slide" Target="/ppt/slides/slide15.xml" Id="R464f780e7ccc45d2" /><Relationship Type="http://schemas.openxmlformats.org/officeDocument/2006/relationships/slide" Target="/ppt/slides/slide16.xml" Id="Rb8c89a2492a742b8" /><Relationship Type="http://schemas.openxmlformats.org/officeDocument/2006/relationships/slide" Target="/ppt/slides/slide17.xml" Id="R995ef521ed2a4cf7" /><Relationship Type="http://schemas.openxmlformats.org/officeDocument/2006/relationships/slide" Target="/ppt/slides/slide18.xml" Id="R21e51d67275f4e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7a8144fab644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CJK KR"/>
        <a:ea typeface=""/>
        <a:cs typeface=""/>
      </a:majorFont>
      <a:minorFont>
        <a:latin typeface="Noto Sans CJK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32b128e1d24372" /><Relationship Type="http://schemas.openxmlformats.org/officeDocument/2006/relationships/notesMaster" Target="/ppt/notesMasters/notesMaster1.xml" Id="Re22c27862fc045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15fa7ef791489d" /><Relationship Type="http://schemas.openxmlformats.org/officeDocument/2006/relationships/notesMaster" Target="/ppt/notesMasters/notesMaster1.xml" Id="Rcae0f528b5ed4f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31b9fefb804b2b" /><Relationship Type="http://schemas.openxmlformats.org/officeDocument/2006/relationships/notesMaster" Target="/ppt/notesMasters/notesMaster1.xml" Id="R4e1f654ead2b41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7d88ed595e4157" /><Relationship Type="http://schemas.openxmlformats.org/officeDocument/2006/relationships/notesMaster" Target="/ppt/notesMasters/notesMaster1.xml" Id="R95b78f5c92b042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0a685a11964210" /><Relationship Type="http://schemas.openxmlformats.org/officeDocument/2006/relationships/notesMaster" Target="/ppt/notesMasters/notesMaster1.xml" Id="R2acb1499356f48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4153547e7f4c4f" /><Relationship Type="http://schemas.openxmlformats.org/officeDocument/2006/relationships/notesMaster" Target="/ppt/notesMasters/notesMaster1.xml" Id="Rfff096a3367a49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4270d0e014704" /><Relationship Type="http://schemas.openxmlformats.org/officeDocument/2006/relationships/notesMaster" Target="/ppt/notesMasters/notesMaster1.xml" Id="Rb50341abf6a442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6cf13f11744d3d" /><Relationship Type="http://schemas.openxmlformats.org/officeDocument/2006/relationships/notesMaster" Target="/ppt/notesMasters/notesMaster1.xml" Id="R5c1d88ff468344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08709ac29b47c2" /><Relationship Type="http://schemas.openxmlformats.org/officeDocument/2006/relationships/notesMaster" Target="/ppt/notesMasters/notesMaster1.xml" Id="Rd5d4921c32b443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ad9d9646e541ad" /><Relationship Type="http://schemas.openxmlformats.org/officeDocument/2006/relationships/notesMaster" Target="/ppt/notesMasters/notesMaster1.xml" Id="R7b551afebe8946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50aea84bec4253" /><Relationship Type="http://schemas.openxmlformats.org/officeDocument/2006/relationships/notesMaster" Target="/ppt/notesMasters/notesMaster1.xml" Id="Rf825641ee0b942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25d707055541d9" /><Relationship Type="http://schemas.openxmlformats.org/officeDocument/2006/relationships/notesMaster" Target="/ppt/notesMasters/notesMaster1.xml" Id="R8db7b5487dec49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87c16ad65d45e4" /><Relationship Type="http://schemas.openxmlformats.org/officeDocument/2006/relationships/notesMaster" Target="/ppt/notesMasters/notesMaster1.xml" Id="Rf82f543fc42649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a780f786884e84" /><Relationship Type="http://schemas.openxmlformats.org/officeDocument/2006/relationships/notesMaster" Target="/ppt/notesMasters/notesMaster1.xml" Id="R70963d4149c245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19766df5914d8d" /><Relationship Type="http://schemas.openxmlformats.org/officeDocument/2006/relationships/notesMaster" Target="/ppt/notesMasters/notesMaster1.xml" Id="Recd445aa71de4c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fb71c3f5ea4c55" /><Relationship Type="http://schemas.openxmlformats.org/officeDocument/2006/relationships/notesMaster" Target="/ppt/notesMasters/notesMaster1.xml" Id="Rda8c9467451e41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784ab1c84d401f" /><Relationship Type="http://schemas.openxmlformats.org/officeDocument/2006/relationships/notesMaster" Target="/ppt/notesMasters/notesMaster1.xml" Id="Rf3de32c123c542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006d50798c4e95" /><Relationship Type="http://schemas.openxmlformats.org/officeDocument/2006/relationships/notesMaster" Target="/ppt/notesMasters/notesMaster1.xml" Id="Rf3987cca80c744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오늘은 RAG를 배운 뒤 이어지는 수업입니다. 모델 밖에 저장한 내용을 에이전트가 다시 읽고 갱신하는 구조를 설명합니다. 학습자가 강의 후 검색과 기억 관리의 차이를 설명하고, 보고서 수정 이력을 남기는 간단한 설계를 할 수 있으면 목표를 달성합니다.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학생에게 먼저 질문합니다. 지난주 보고서에서 찾은 숫자를 오늘도 써도 될까요? 자료를 찾는 능력과 자료의 상태를 관리하는 능력이 다르다는 점을 끌어냅니다. 목표는 도구 설치 자체가 아니라, 다음 질의에서 무엇을 믿을지 정하는 규칙을 설계하는 것입니다.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여기의 RAG는 수업에서 흔히 쓰는 일반적인 검색 증강 생성 흐름입니다. 원 논문은 학습된 검색기와 생성기를 결합한 구체적인 모델 구조입니다. 질문을 받아 관련 문서를 찾고, 선택한 근거를 문맥에 넣어 답합니다. 실제 시스템은 재검색·재순위화·기억 저장까지 포함할 수 있으므로 모든 RAG를 일회성이라고 규정하지 않습니다.</a:t>
            </a:r>
          </a:p>
          <a:p xmlns:a="http://schemas.openxmlformats.org/drawingml/2006/main">
            <a:r>
              <a:t/>
            </a:r>
          </a:p>
          <a:p xmlns:a="http://schemas.openxmlformats.org/drawingml/2006/main">
            <a:r>
              <a:t>출처</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RAG와 외부 기억은 배타적인 제품 분류가 아닙니다. RAG는 답변에 근거를 연결하는 경로를 중심으로 설명하고, 외부 기억은 세션을 넘어 유지할 정보를 고르고 수정하고 폐기하는 수명주기를 중심으로 설명합니다. 기억에서도 검색을 사용하며, RAG 시스템에도 쓰기 기능을 붙일 수 있습니다. 파인튜닝과 달리 여기서는 모델 가중치를 바꾸지 않습니다.</a:t>
            </a:r>
          </a:p>
          <a:p xmlns:a="http://schemas.openxmlformats.org/drawingml/2006/main">
            <a:r>
              <a:t/>
            </a:r>
          </a:p>
          <a:p xmlns:a="http://schemas.openxmlformats.org/drawingml/2006/main">
            <a:r>
              <a:t>출처</a:t>
            </a:r>
          </a:p>
          <a:p xmlns:a="http://schemas.openxmlformats.org/drawingml/2006/main">
            <a:r>
              <a:t>https://arxiv.org/abs/2005.11401</a:t>
            </a:r>
          </a:p>
          <a:p xmlns:a="http://schemas.openxmlformats.org/drawingml/2006/main">
            <a:r>
              <a:t>https://arxiv.org/abs/2310.08560</a:t>
            </a:r>
          </a:p>
          <a:p xmlns:a="http://schemas.openxmlformats.org/drawingml/2006/main">
            <a:r>
              <a:t>https://gist.github.com/karpathy/442a6bf555914893e9891c11519de94f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Andrej Karpathy의 2026년 4월 4일 GitHub Gist에 담긴 아이디어를 소개합니다. 공식 제품명이나 검증된 범용 성능 우위로 소개하지 않습니다. 원문을 보존하고, 에이전트가 읽은 내용을 연결된 Markdown 문서로 정리하며, schema로 운영 규칙을 정의하는 패턴입니다. 질의 결과도 유용하면 위키로 남길 수 있지만 자동으로 모든 대화를 저장할 필요는 없습니다.</a:t>
            </a:r>
          </a:p>
          <a:p xmlns:a="http://schemas.openxmlformats.org/drawingml/2006/main">
            <a:r>
              <a:t/>
            </a:r>
          </a:p>
          <a:p xmlns:a="http://schemas.openxmlformats.org/drawingml/2006/main">
            <a:r>
              <a:t>출처</a:t>
            </a:r>
          </a:p>
          <a:p xmlns:a="http://schemas.openxmlformats.org/drawingml/2006/main">
            <a:r>
              <a:t>https://gist.github.com/karpathy/442a6bf555914893e9891c11519de94f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아래 폴더 이름은 강의용 설계 예시입니다. Karpathy의 고정 표준으로 제시하지 않습니다. 원문은 수정하지 않고 새 버전으로 보존합니다. 위키는 원문에서 도출한 해석이므로 오류를 포함할 수 있습니다. 검색 인덱스는 접근을 빠르게 하는 파생물이며 필요하면 다시 생성합니다. 이 구분이 있어야 요약이 근거를 대신하는 문제를 줄일 수 있습니다.</a:t>
            </a:r>
          </a:p>
          <a:p xmlns:a="http://schemas.openxmlformats.org/drawingml/2006/main">
            <a:r>
              <a:t/>
            </a:r>
          </a:p>
          <a:p xmlns:a="http://schemas.openxmlformats.org/drawingml/2006/main">
            <a:r>
              <a:t>출처</a:t>
            </a:r>
          </a:p>
          <a:p xmlns:a="http://schemas.openxmlformats.org/drawingml/2006/main">
            <a:r>
              <a:t>https://gist.github.com/karpathy/442a6bf555914893e9891c11519de94f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Vault는 로컬 폴더이며 노트는 Markdown 파일입니다. Obsidian은 파일을 보고 고치는 작업 공간입니다. 외부 에이전트가 파일을 수정하면 Obsidian은 그 변화를 반영할 수 있습니다. 검색은 텍스트를 찾고, 백링크는 현재 노트를 참조하는 문서를 보여줍니다. 그래프의 선은 문서 간 링크입니다. 금융 변수 간 인과관계나 내용의 참을 증명하지 않습니다. 기본 앱만 설치했다고 자동 수집·추론·기억 갱신이 생기지는 않습니다.</a:t>
            </a:r>
          </a:p>
          <a:p xmlns:a="http://schemas.openxmlformats.org/drawingml/2006/main">
            <a:r>
              <a:t/>
            </a:r>
          </a:p>
          <a:p xmlns:a="http://schemas.openxmlformats.org/drawingml/2006/main">
            <a:r>
              <a:t>출처</a:t>
            </a:r>
          </a:p>
          <a:p xmlns:a="http://schemas.openxmlformats.org/drawingml/2006/main">
            <a:r>
              <a:t>https://obsidian.md/help/Files%2Band%2Bfolders/How%2BObsidian%2Bstores%2Bdata</a:t>
            </a:r>
          </a:p>
          <a:p xmlns:a="http://schemas.openxmlformats.org/drawingml/2006/main">
            <a:r>
              <a:t>https://obsidian.md/help/links</a:t>
            </a:r>
          </a:p>
          <a:p xmlns:a="http://schemas.openxmlformats.org/drawingml/2006/main">
            <a:r>
              <a:t>https://obsidian.md/help/plugins/backlinks</a:t>
            </a:r>
          </a:p>
          <a:p xmlns:a="http://schemas.openxmlformats.org/drawingml/2006/main">
            <a:r>
              <a:t>https://obsidian.md/help/plugins/search</a:t>
            </a:r>
          </a:p>
          <a:p xmlns:a="http://schemas.openxmlformats.org/drawingml/2006/main">
            <a:r>
              <a:t>https://obsidian.md/help/plugins/graph</a:t>
            </a:r>
          </a:p>
          <a:p xmlns:a="http://schemas.openxmlformats.org/drawingml/2006/main">
            <a:br/>
            <a:r>
              <a:t>이미지: https://github.com/obsidianmd/obsidian-help/blob/master/en/Attachments/obsidian-graph-view.png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ingest, query, lint는 원 Gist에서 쓰는 작업 명칭입니다. ingest는 자료를 읽어 관련 페이지와 색인을 갱신하는 일입니다. query는 위키를 탐색하고 필요한 경우 원문으로 돌아가 답하는 일입니다. lint는 모순, 오래된 주장, 끊어진 연결 등을 점검하는 일입니다. 점검이 오류를 완전히 없애는 것은 아니므로 상태와 검토자를 기록합니다.</a:t>
            </a:r>
          </a:p>
          <a:p xmlns:a="http://schemas.openxmlformats.org/drawingml/2006/main">
            <a:r>
              <a:t/>
            </a:r>
          </a:p>
          <a:p xmlns:a="http://schemas.openxmlformats.org/drawingml/2006/main">
            <a:r>
              <a:t>출처</a:t>
            </a:r>
          </a:p>
          <a:p xmlns:a="http://schemas.openxmlformats.org/drawingml/2006/main">
            <a:r>
              <a:t>https://gist.github.com/karpathy/442a6bf555914893e9891c11519de94f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모든 기업명과 수치는 수업용 가정입니다. A증권사가 같은 회계연도의 EPS 전망을 낮추었지만 B증권사는 다른 가정을 유지합니다. 같은 작성기관의 수정 이력과 다른 기관 사이의 의견 차이를 구분해야 합니다. EPS는 주당순이익입니다. 수치만 비교하지 말고 회계연도, 통화, 단위, 추정 방법을 함께 확인합니다.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위키 페이지의 핵심은 하나의 숫자를 영구적인 사실로 굳히지 않는 것입니다. 이 예에서는 A증권의 최신 추정치를 현재 값으로 기록하되 이전 추정치를 이력으로 보존합니다. B증권 전망은 병기합니다. 전망을 실현된 실적과 구분하고, 원문 페이지나 표 번호가 검증되지 않았으면 확인 대기로 둡니다. 아래 페이지 번호는 가상 자료의 예입니다.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질문은 “현재 EPS 전망은 얼마인가”입니다. 단순히 한 문서에서 찾은 숫자만 말하면 작성기관과 시점이 사라집니다. 기억을 잘 관리했을 때의 예시 답변을 읽습니다. 이 개선은 Wiki라는 이름에서 자동으로 생기는 것이 아니라, 최신성 규칙과 출처 검증에서 생깁니다. RAG 역시 같은 메타데이터와 검증 규칙으로 이 답을 낼 수 있습니다.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원문을 덮어쓰지 않고, 수정안을 별도로 만들고, 중요한 숫자와 해석은 사람이 대조한 뒤 반영합니다. 버전 관리가 있으면 누가 무엇을 왜 바꾸었는지 추적하고 되돌릴 수 있습니다. Git은 한 선택지입니다. 기밀 문서 삭제 시 원문뿐 아니라 파생 위키, 인덱스, 백업도 점검해야 합니다. 실제 보존·삭제 정책은 기관의 규정에 맞춰 정합니다.</a:t>
            </a:r>
          </a:p>
          <a:p xmlns:a="http://schemas.openxmlformats.org/drawingml/2006/main">
            <a:r>
              <a:t/>
            </a:r>
          </a:p>
          <a:p xmlns:a="http://schemas.openxmlformats.org/drawingml/2006/main">
            <a:r>
              <a:t>출처</a:t>
            </a:r>
          </a:p>
          <a:p xmlns:a="http://schemas.openxmlformats.org/drawingml/2006/main">
            <a:r>
              <a:t>https://git-scm.com/book/en/v2/Getting-Started-About-Version-Control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여기부터는 수업용 운영 권고입니다. 보고서의 저작권과 배포 범위, 고객·계좌 정보의 유출 가능성을 먼저 확인합니다. 로컬 파일을 쓴다고 LLM 호출까지 로컬인 것은 아닙니다. 외부 모델을 쓰면 전송 범위를 별도로 점검합니다. 문서 안의 명령문은 읽을 자료이지 시스템 지시가 아닙니다. 접근 통제와 승인 절차는 모델에게 부탁하는 문장만으로 해결하지 않습니다.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이 표는 강의용 평가 기준입니다. 자동화 도입 전후에 동일한 질문 세트를 사용합니다. 답의 정확도뿐 아니라 최신성, 출처의 정확한 위치, 상충 견해 보존, 수정 후 회귀 오류를 함께 확인합니다. 비용과 지연도 측정하되 강의에서는 실제 벤치마크 결과가 있는 것처럼 수치를 제시하지 않습니다.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이 슬라이드는 Karpathy의 공식 구조가 아닌 강의용 확장 설계입니다. Librarian이 자료와 파생 기억을 관리하고 Evaluator가 검증 기준으로 결과를 평가하는 역할을 나눕니다. 경험 기억은 “지난 답이 맞았다”라는 자기평가를 축적하는 방식이 아니라, 작업 조건·오류·수정·검증 결과를 저장하는 방식으로 설계합니다. 역할 분담만으로 독립 검증이 보장되지는 않으며 원문과 테스트가 필요합니다.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 두 명씩 짝을 짓습니다. 앞의 가상 자료를 보고 A증권 전망 메모를 작성합니다. 1분은 주장과 출처, 1분은 변경 이력과 B증권의 견해 차이, 마지막 1분은 상대 팀의 검토입니다. 도구 설치 없이 문서나 종이에 해도 됩니다. 정답의 핵심은 최신 값 4,500원, 이전 5,000원 보존, 10% 하향, B증권 5,200원 별도 병기입니다. 확정 실적이나 시장 전체의 합의로 표현하면 수정합니다.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이 레시피는 다음 실습의 출발점입니다. 합성 보고서 두 개를 로컬 Vault에 저장하고 원문 폴더와 위키 폴더를 분리합니다. 위키 한 장에 주장·원문 위치·발행일·상태·이력을 씁니다. 에이전트에는 변경안을 작성할 권한만 주고 사람이 파일 차이를 검토합니다. 같은 질문을 수정 전후에 실행해 최신 답과 이전 이력이 모두 살아 있는지 확인합니다. 자동 수집·매매 기능은 이 실습 범위에 필요하지 않습니다.</a:t>
            </a:r>
          </a:p>
          <a:p xmlns:a="http://schemas.openxmlformats.org/drawingml/2006/main">
            <a:r>
              <a:t/>
            </a:r>
          </a:p>
          <a:p xmlns:a="http://schemas.openxmlformats.org/drawingml/2006/main">
            <a:r>
              <a:t>출처</a:t>
            </a:r>
          </a:p>
          <a:p xmlns:a="http://schemas.openxmlformats.org/drawingml/2006/main">
            <a:r>
              <a:t>https://obsidian.md/help/Files%2Band%2Bfolders/How%2BObsidian%2Bstores%2Bdata</a:t>
            </a:r>
          </a:p>
          <a:p xmlns:a="http://schemas.openxmlformats.org/drawingml/2006/main">
            <a:r>
              <a:t>https://gist.github.com/karpathy/442a6bf555914893e9891c11519de94f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마무리합니다. RAG는 답변에 필요한 근거를 찾는 경로이고 외부 기억은 남길 정보를 관리하는 수명주기입니다. LLM Wiki는 연결된 문서를 에이전트가 유지하는 제안이며 Obsidian은 그 문서를 사람이 보는 도구입니다. 학생에게 마지막으로 “좋은 기억을 판단하는 기준은 저장량인가, 출처와 갱신 가능성인가”를 묻습니다. 모든 자료는 각 슬라이드 노트에도 URL을 수록했습니다.</a:t>
            </a:r>
          </a:p>
          <a:p xmlns:a="http://schemas.openxmlformats.org/drawingml/2006/main">
            <a:r>
              <a:t/>
            </a:r>
          </a:p>
          <a:p xmlns:a="http://schemas.openxmlformats.org/drawingml/2006/main">
            <a:r>
              <a:t>출처</a:t>
            </a:r>
          </a:p>
          <a:p xmlns:a="http://schemas.openxmlformats.org/drawingml/2006/main">
            <a:r>
              <a:t>https://arxiv.org/abs/2005.11401</a:t>
            </a:r>
          </a:p>
          <a:p xmlns:a="http://schemas.openxmlformats.org/drawingml/2006/main">
            <a:r>
              <a:t>https://gist.github.com/karpathy/442a6bf555914893e9891c11519de94f</a:t>
            </a:r>
          </a:p>
          <a:p xmlns:a="http://schemas.openxmlformats.org/drawingml/2006/main">
            <a:r>
              <a:t>https://arxiv.org/abs/2310.08560</a:t>
            </a:r>
          </a:p>
          <a:p xmlns:a="http://schemas.openxmlformats.org/drawingml/2006/main">
            <a:r>
              <a:t>https://obsidian.md/help/Files%2Band%2Bfolders/How%2BObsidian%2Bstores%2Bdata</a:t>
            </a:r>
          </a:p>
          <a:p xmlns:a="http://schemas.openxmlformats.org/drawingml/2006/main">
            <a:r>
              <a:t>https://obsidian.md/help/plugins/graph</a:t>
            </a:r>
          </a:p>
          <a:p xmlns:a="http://schemas.openxmlformats.org/drawingml/2006/main">
            <a:r>
              <a:t>https://git-scm.com/book/en/v2/Getting-Started-About-Version-Control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bddf8cccbf46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985dc390dd4a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4c48140e9643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af25a89a3d49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6b633fef7542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629ff95c704b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4A1217-C630-4AFF-AEBA-31584B2BB9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8257AE-BC3B-445F-97CD-4AAF1836D3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7C70B7-9329-43DE-8A3C-D61F0B9C0E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586AC1-36D8-4268-A2F1-C66FF8E69C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0E1714-86AC-4D0A-9B0F-614BB48265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A65FBE-2079-484F-B63F-A44575EA82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A8867C-E41B-464C-A26F-EB6C89198A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044623-0F10-4A92-8FD8-B387745EEA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C5EFB6-EE84-4051-A452-337080BE33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A230FF-847D-4858-8E75-8675A7586D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be9663f5e4c1b" /><Relationship Type="http://schemas.openxmlformats.org/officeDocument/2006/relationships/slideLayout" Target="/ppt/slideLayouts/slideLayout1.xml" Id="R03aa3826c1824216" /><Relationship Type="http://schemas.openxmlformats.org/officeDocument/2006/relationships/slideLayout" Target="/ppt/slideLayouts/slideLayout2.xml" Id="R2e1e5df813c14152" /><Relationship Type="http://schemas.openxmlformats.org/officeDocument/2006/relationships/slideLayout" Target="/ppt/slideLayouts/slideLayout3.xml" Id="R1b9cd1f729924f84" /><Relationship Type="http://schemas.openxmlformats.org/officeDocument/2006/relationships/slideLayout" Target="/ppt/slideLayouts/slideLayout4.xml" Id="Rd7ba33269a394447" /><Relationship Type="http://schemas.openxmlformats.org/officeDocument/2006/relationships/slideLayout" Target="/ppt/slideLayouts/slideLayout5.xml" Id="Rd8d9bddfc4874bcf" /><Relationship Type="http://schemas.openxmlformats.org/officeDocument/2006/relationships/slideLayout" Target="/ppt/slideLayouts/slideLayout6.xml" Id="Rc3df6f6bc5fd49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aa3826c1824216"/>
    <p:sldLayoutId xmlns:r="http://schemas.openxmlformats.org/officeDocument/2006/relationships" id="2147483650" r:id="R2e1e5df813c14152"/>
    <p:sldLayoutId xmlns:r="http://schemas.openxmlformats.org/officeDocument/2006/relationships" id="2147483651" r:id="R1b9cd1f729924f84"/>
    <p:sldLayoutId xmlns:r="http://schemas.openxmlformats.org/officeDocument/2006/relationships" id="2147483652" r:id="Rd7ba33269a394447"/>
    <p:sldLayoutId xmlns:r="http://schemas.openxmlformats.org/officeDocument/2006/relationships" id="2147483653" r:id="Rd8d9bddfc4874bcf"/>
    <p:sldLayoutId xmlns:r="http://schemas.openxmlformats.org/officeDocument/2006/relationships" id="2147483654" r:id="Rc3df6f6bc5fd49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CJK KR"/>
        <a:ea typeface=""/>
        <a:cs typeface=""/>
      </a:majorFont>
      <a:minorFont>
        <a:latin typeface="Noto Sans CJK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81e6e76d534d12" /><Relationship Type="http://schemas.openxmlformats.org/officeDocument/2006/relationships/notesSlide" Target="/ppt/notesSlides/notesSlide1.xml" Id="Rd450d15b83cf41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9e8729c6ab4a8e" /><Relationship Type="http://schemas.openxmlformats.org/officeDocument/2006/relationships/notesSlide" Target="/ppt/notesSlides/notesSlide2.xml" Id="Re652267fd9bd45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05f5b0738e4ace" /><Relationship Type="http://schemas.openxmlformats.org/officeDocument/2006/relationships/notesSlide" Target="/ppt/notesSlides/notesSlide3.xml" Id="Rc1c3db2dcc064d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fcbf08bb244e2c" /><Relationship Type="http://schemas.openxmlformats.org/officeDocument/2006/relationships/notesSlide" Target="/ppt/notesSlides/notesSlide4.xml" Id="R15b4fed7c9c644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c0313356594493" /><Relationship Type="http://schemas.openxmlformats.org/officeDocument/2006/relationships/notesSlide" Target="/ppt/notesSlides/notesSlide5.xml" Id="R0f234dea68a24e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c6553ac544471d" /><Relationship Type="http://schemas.openxmlformats.org/officeDocument/2006/relationships/notesSlide" Target="/ppt/notesSlides/notesSlide6.xml" Id="R9234915c8e1e4a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16bdb6f0df4fe1" /><Relationship Type="http://schemas.openxmlformats.org/officeDocument/2006/relationships/image" Target="/ppt/media/image.png" Id="Re62b89b58531485a" /><Relationship Type="http://schemas.openxmlformats.org/officeDocument/2006/relationships/notesSlide" Target="/ppt/notesSlides/notesSlide7.xml" Id="R9e235226565149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131d3c61d44460" /><Relationship Type="http://schemas.openxmlformats.org/officeDocument/2006/relationships/notesSlide" Target="/ppt/notesSlides/notesSlide8.xml" Id="R7d86f29980e348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04dfea41334c5e" /><Relationship Type="http://schemas.openxmlformats.org/officeDocument/2006/relationships/notesSlide" Target="/ppt/notesSlides/notesSlide9.xml" Id="R561e16837bfd4e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35adcc5e684bac" /><Relationship Type="http://schemas.openxmlformats.org/officeDocument/2006/relationships/notesSlide" Target="/ppt/notesSlides/notesSlide10.xml" Id="Raf9fe3af47b746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f4cbe2a42243b8" /><Relationship Type="http://schemas.openxmlformats.org/officeDocument/2006/relationships/notesSlide" Target="/ppt/notesSlides/notesSlide11.xml" Id="Rb18d7fe910e54c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baf73964cd4f1e" /><Relationship Type="http://schemas.openxmlformats.org/officeDocument/2006/relationships/notesSlide" Target="/ppt/notesSlides/notesSlide12.xml" Id="R7a99972801d442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64954ba78124b54" /><Relationship Type="http://schemas.openxmlformats.org/officeDocument/2006/relationships/notesSlide" Target="/ppt/notesSlides/notesSlide13.xml" Id="R600a03f3799b42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508fb4c74374ab4" /><Relationship Type="http://schemas.openxmlformats.org/officeDocument/2006/relationships/notesSlide" Target="/ppt/notesSlides/notesSlide14.xml" Id="R745419a326b449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56ec52631f473a" /><Relationship Type="http://schemas.openxmlformats.org/officeDocument/2006/relationships/notesSlide" Target="/ppt/notesSlides/notesSlide15.xml" Id="Rc41eeae615634a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1f895a896ef429b" /><Relationship Type="http://schemas.openxmlformats.org/officeDocument/2006/relationships/notesSlide" Target="/ppt/notesSlides/notesSlide16.xml" Id="R91a7c3e38a4c47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4c83b042fdc4fb9" /><Relationship Type="http://schemas.openxmlformats.org/officeDocument/2006/relationships/notesSlide" Target="/ppt/notesSlides/notesSlide17.xml" Id="R626e6f2d55c64a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258d8c365b14a19" /><Relationship Type="http://schemas.openxmlformats.org/officeDocument/2006/relationships/notesSlide" Target="/ppt/notesSlides/notesSlide18.xml" Id="R90548d85eb714d88" /></Relationships>
</file>

<file path=ppt/slides/slide1.xml><?xml version="1.0" encoding="utf-8"?>
<p:sld xmlns:p="http://schemas.openxmlformats.org/presentationml/2006/main">
  <p:cSld>
    <p:bg>
      <p:bgPr>
        <a:solidFill xmlns:a="http://schemas.openxmlformats.org/drawingml/2006/main">
          <a:srgbClr val="112C3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4EB0D5-E261-466F-87D6-BCD8BE3DA04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Noto Sans CJK KR"/>
                <a:ea typeface="Noto Sans CJK KR"/>
                <a:cs typeface="Noto Sans CJK KR"/>
              </a:defRPr>
            </a:defPPr>
          </a:lstStyle>
          <a:p xmlns:a="http://schemas.openxmlformats.org/drawingml/2006/main">
            <a:pPr>
              <a:defRPr sz="3150" b="1">
                <a:solidFill>
                  <a:srgbClr val="FFFFFF"/>
                </a:solidFill>
                <a:latin typeface="Noto Sans CJK KR"/>
                <a:ea typeface="Noto Sans CJK KR"/>
                <a:cs typeface="Noto Sans CJK KR"/>
              </a:defRPr>
            </a:pPr>
            <a:r>
              <a:rPr sz="3150" b="1">
                <a:solidFill>
                  <a:srgbClr val="FFFFFF"/>
                </a:solidFill>
                <a:latin typeface="Noto Sans CJK KR"/>
                <a:ea typeface="Noto Sans CJK KR"/>
                <a:cs typeface="Noto Sans CJK KR"/>
              </a:rPr>
              <a:t>에이전트의 외부 기억</a:t>
            </a:r>
          </a:p>
        </p:txBody>
      </p:sp>
      <p:sp>
        <p:nvSpPr>
          <p:cNvPr id="2" name="">
            <a:extLst xmlns:a="http://schemas.openxmlformats.org/drawingml/2006/main">
              <a:ext uri="{FF2B5EF4-FFF2-40B4-BE49-F238E27FC236}">
                <a16:creationId xmlns:a16="http://schemas.microsoft.com/office/drawing/2014/main" id="{CB7F588C-054F-4522-904E-94FC7234EBDF}"/>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BBABD"/>
                </a:solidFill>
                <a:latin typeface="Noto Sans CJK KR"/>
                <a:ea typeface="Noto Sans CJK KR"/>
                <a:cs typeface="Noto Sans CJK KR"/>
              </a:defRPr>
            </a:defPPr>
          </a:lstStyle>
          <a:p xmlns:a="http://schemas.openxmlformats.org/drawingml/2006/main">
            <a:pPr>
              <a:defRPr sz="1200" b="0">
                <a:solidFill>
                  <a:srgbClr val="8BBABD"/>
                </a:solidFill>
                <a:latin typeface="Noto Sans CJK KR"/>
                <a:ea typeface="Noto Sans CJK KR"/>
                <a:cs typeface="Noto Sans CJK KR"/>
              </a:defRPr>
            </a:pPr>
            <a:r>
              <a:rPr sz="1200" b="0">
                <a:solidFill>
                  <a:srgbClr val="8BBABD"/>
                </a:solidFill>
                <a:latin typeface="Noto Sans CJK KR"/>
                <a:ea typeface="Noto Sans CJK KR"/>
                <a:cs typeface="Noto Sans CJK KR"/>
              </a:rPr>
              <a:t>01</a:t>
            </a:r>
          </a:p>
        </p:txBody>
      </p:sp>
      <p:sp>
        <p:nvSpPr>
          <p:cNvPr id="3" name="">
            <a:extLst xmlns:a="http://schemas.openxmlformats.org/drawingml/2006/main">
              <a:ext uri="{FF2B5EF4-FFF2-40B4-BE49-F238E27FC236}">
                <a16:creationId xmlns:a16="http://schemas.microsoft.com/office/drawing/2014/main" id="{3F2916DA-9DF2-47E4-9701-7A964476D5E3}"/>
              </a:ext>
            </a:extLst>
          </p:cNvPr>
          <p:cNvSpPr>
            <a:spLocks xmlns:a="http://schemas.openxmlformats.org/drawingml/2006/main" noGrp="1"/>
          </p:cNvSpPr>
          <p:nvPr/>
        </p:nvSpPr>
        <p:spPr>
          <a:xfrm xmlns:a="http://schemas.openxmlformats.org/drawingml/2006/main">
            <a:off x="723900" y="195262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99D5D1"/>
                </a:solidFill>
                <a:latin typeface="Noto Sans CJK KR"/>
                <a:ea typeface="Noto Sans CJK KR"/>
                <a:cs typeface="Noto Sans CJK KR"/>
              </a:defRPr>
            </a:defPPr>
          </a:lstStyle>
          <a:p xmlns:a="http://schemas.openxmlformats.org/drawingml/2006/main">
            <a:pPr>
              <a:defRPr sz="2250" b="0">
                <a:solidFill>
                  <a:srgbClr val="99D5D1"/>
                </a:solidFill>
                <a:latin typeface="Noto Sans CJK KR"/>
                <a:ea typeface="Noto Sans CJK KR"/>
                <a:cs typeface="Noto Sans CJK KR"/>
              </a:defRPr>
            </a:pPr>
            <a:r>
              <a:rPr sz="2250" b="0">
                <a:solidFill>
                  <a:srgbClr val="99D5D1"/>
                </a:solidFill>
                <a:latin typeface="Noto Sans CJK KR"/>
                <a:ea typeface="Noto Sans CJK KR"/>
                <a:cs typeface="Noto Sans CJK KR"/>
              </a:rPr>
              <a:t>RAG 수업의 다음 주제</a:t>
            </a:r>
          </a:p>
        </p:txBody>
      </p:sp>
      <p:sp>
        <p:nvSpPr>
          <p:cNvPr id="4" name="">
            <a:extLst xmlns:a="http://schemas.openxmlformats.org/drawingml/2006/main">
              <a:ext uri="{FF2B5EF4-FFF2-40B4-BE49-F238E27FC236}">
                <a16:creationId xmlns:a16="http://schemas.microsoft.com/office/drawing/2014/main" id="{D4CE3E26-DEB2-460E-B146-AB564858D3E7}"/>
              </a:ext>
            </a:extLst>
          </p:cNvPr>
          <p:cNvSpPr>
            <a:spLocks xmlns:a="http://schemas.openxmlformats.org/drawingml/2006/main" noGrp="1"/>
          </p:cNvSpPr>
          <p:nvPr/>
        </p:nvSpPr>
        <p:spPr>
          <a:xfrm xmlns:a="http://schemas.openxmlformats.org/drawingml/2006/main">
            <a:off x="723900" y="2905125"/>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Noto Sans CJK KR"/>
                <a:ea typeface="Noto Sans CJK KR"/>
                <a:cs typeface="Noto Sans CJK KR"/>
              </a:defRPr>
            </a:defPPr>
          </a:lstStyle>
          <a:p xmlns:a="http://schemas.openxmlformats.org/drawingml/2006/main">
            <a:pPr>
              <a:defRPr sz="3900" b="1">
                <a:solidFill>
                  <a:srgbClr val="FFFFFF"/>
                </a:solidFill>
                <a:latin typeface="Noto Sans CJK KR"/>
                <a:ea typeface="Noto Sans CJK KR"/>
                <a:cs typeface="Noto Sans CJK KR"/>
              </a:defRPr>
            </a:pPr>
            <a:r>
              <a:rPr sz="3900" b="1">
                <a:solidFill>
                  <a:srgbClr val="FFFFFF"/>
                </a:solidFill>
                <a:latin typeface="Noto Sans CJK KR"/>
                <a:ea typeface="Noto Sans CJK KR"/>
                <a:cs typeface="Noto Sans CJK KR"/>
              </a:rPr>
              <a:t>LLM Wiki와 Obsidian으로</a:t>
            </a:r>
          </a:p>
          <a:p xmlns:a="http://schemas.openxmlformats.org/drawingml/2006/main">
            <a:pPr>
              <a:defRPr sz="3900" b="1">
                <a:solidFill>
                  <a:srgbClr val="FFFFFF"/>
                </a:solidFill>
                <a:latin typeface="Noto Sans CJK KR"/>
                <a:ea typeface="Noto Sans CJK KR"/>
                <a:cs typeface="Noto Sans CJK KR"/>
              </a:defRPr>
            </a:pPr>
            <a:r>
              <a:rPr sz="3900" b="1">
                <a:solidFill>
                  <a:srgbClr val="FFFFFF"/>
                </a:solidFill>
                <a:latin typeface="Noto Sans CJK KR"/>
                <a:ea typeface="Noto Sans CJK KR"/>
                <a:cs typeface="Noto Sans CJK KR"/>
              </a:rPr>
              <a:t>읽은 내용을 다시 쓰는 방법</a:t>
            </a:r>
          </a:p>
        </p:txBody>
      </p:sp>
      <p:sp>
        <p:nvSpPr>
          <p:cNvPr id="5" name="">
            <a:extLst xmlns:a="http://schemas.openxmlformats.org/drawingml/2006/main">
              <a:ext uri="{FF2B5EF4-FFF2-40B4-BE49-F238E27FC236}">
                <a16:creationId xmlns:a16="http://schemas.microsoft.com/office/drawing/2014/main" id="{1A55213A-9CF3-4BDF-98DB-8267E440C52F}"/>
              </a:ext>
            </a:extLst>
          </p:cNvPr>
          <p:cNvSpPr>
            <a:spLocks xmlns:a="http://schemas.openxmlformats.org/drawingml/2006/main" noGrp="1"/>
          </p:cNvSpPr>
          <p:nvPr/>
        </p:nvSpPr>
        <p:spPr>
          <a:xfrm xmlns:a="http://schemas.openxmlformats.org/drawingml/2006/main">
            <a:off x="723900" y="56197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CD1D8"/>
                </a:solidFill>
                <a:latin typeface="Noto Sans CJK KR"/>
                <a:ea typeface="Noto Sans CJK KR"/>
                <a:cs typeface="Noto Sans CJK KR"/>
              </a:defRPr>
            </a:defPPr>
          </a:lstStyle>
          <a:p xmlns:a="http://schemas.openxmlformats.org/drawingml/2006/main">
            <a:pPr>
              <a:defRPr sz="1800" b="0">
                <a:solidFill>
                  <a:srgbClr val="BCD1D8"/>
                </a:solidFill>
                <a:latin typeface="Noto Sans CJK KR"/>
                <a:ea typeface="Noto Sans CJK KR"/>
                <a:cs typeface="Noto Sans CJK KR"/>
              </a:defRPr>
            </a:pPr>
            <a:r>
              <a:rPr sz="1800" b="0">
                <a:solidFill>
                  <a:srgbClr val="BCD1D8"/>
                </a:solidFill>
                <a:latin typeface="Noto Sans CJK KR"/>
                <a:ea typeface="Noto Sans CJK KR"/>
                <a:cs typeface="Noto Sans CJK KR"/>
              </a:rPr>
              <a:t>금융·경제 수업  /  25분</a:t>
            </a:r>
          </a:p>
        </p:txBody>
      </p:sp>
    </p:spTree>
    <p:extLst>
      <p:ext uri="{BB962C8B-B14F-4D97-AF65-F5344CB8AC3E}">
        <p14:creationId xmlns:p14="http://schemas.microsoft.com/office/powerpoint/2010/main" val="1123109473"/>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F0B46C-6989-42BC-A9BC-985ED663E1F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오늘의 질문</a:t>
            </a:r>
          </a:p>
        </p:txBody>
      </p:sp>
      <p:sp>
        <p:nvSpPr>
          <p:cNvPr id="2" name="">
            <a:extLst xmlns:a="http://schemas.openxmlformats.org/drawingml/2006/main">
              <a:ext uri="{FF2B5EF4-FFF2-40B4-BE49-F238E27FC236}">
                <a16:creationId xmlns:a16="http://schemas.microsoft.com/office/drawing/2014/main" id="{994E1E94-5D29-4C35-A990-C30263A56C4E}"/>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02</a:t>
            </a:r>
          </a:p>
        </p:txBody>
      </p:sp>
      <p:sp>
        <p:nvSpPr>
          <p:cNvPr id="3" name="">
            <a:extLst xmlns:a="http://schemas.openxmlformats.org/drawingml/2006/main">
              <a:ext uri="{FF2B5EF4-FFF2-40B4-BE49-F238E27FC236}">
                <a16:creationId xmlns:a16="http://schemas.microsoft.com/office/drawing/2014/main" id="{CE792288-141E-4324-AA26-40677A5BABCA}"/>
              </a:ext>
            </a:extLst>
          </p:cNvPr>
          <p:cNvSpPr>
            <a:spLocks xmlns:a="http://schemas.openxmlformats.org/drawingml/2006/main" noGrp="1"/>
          </p:cNvSpPr>
          <p:nvPr/>
        </p:nvSpPr>
        <p:spPr>
          <a:xfrm xmlns:a="http://schemas.openxmlformats.org/drawingml/2006/main">
            <a:off x="723900" y="17145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2C3E"/>
                </a:solidFill>
                <a:latin typeface="Noto Sans CJK KR"/>
                <a:ea typeface="Noto Sans CJK KR"/>
                <a:cs typeface="Noto Sans CJK KR"/>
              </a:defRPr>
            </a:defPPr>
          </a:lstStyle>
          <a:p xmlns:a="http://schemas.openxmlformats.org/drawingml/2006/main">
            <a:pPr>
              <a:defRPr sz="3225" b="1">
                <a:solidFill>
                  <a:srgbClr val="112C3E"/>
                </a:solidFill>
                <a:latin typeface="Noto Sans CJK KR"/>
                <a:ea typeface="Noto Sans CJK KR"/>
                <a:cs typeface="Noto Sans CJK KR"/>
              </a:defRPr>
            </a:pPr>
            <a:r>
              <a:rPr sz="3225" b="1">
                <a:solidFill>
                  <a:srgbClr val="112C3E"/>
                </a:solidFill>
                <a:latin typeface="Noto Sans CJK KR"/>
                <a:ea typeface="Noto Sans CJK KR"/>
                <a:cs typeface="Noto Sans CJK KR"/>
              </a:rPr>
              <a:t>“지난주 읽은 전망이 바뀌었다면,</a:t>
            </a:r>
          </a:p>
          <a:p xmlns:a="http://schemas.openxmlformats.org/drawingml/2006/main">
            <a:pPr>
              <a:defRPr sz="3225" b="1">
                <a:solidFill>
                  <a:srgbClr val="112C3E"/>
                </a:solidFill>
                <a:latin typeface="Noto Sans CJK KR"/>
                <a:ea typeface="Noto Sans CJK KR"/>
                <a:cs typeface="Noto Sans CJK KR"/>
              </a:defRPr>
            </a:pPr>
            <a:r>
              <a:rPr sz="3225" b="1">
                <a:solidFill>
                  <a:srgbClr val="112C3E"/>
                </a:solidFill>
                <a:latin typeface="Noto Sans CJK KR"/>
                <a:ea typeface="Noto Sans CJK KR"/>
                <a:cs typeface="Noto Sans CJK KR"/>
              </a:rPr>
              <a:t>에이전트는 무엇을 기억해야 할까?”</a:t>
            </a:r>
          </a:p>
        </p:txBody>
      </p:sp>
      <p:sp>
        <p:nvSpPr>
          <p:cNvPr id="4" name="">
            <a:extLst xmlns:a="http://schemas.openxmlformats.org/drawingml/2006/main">
              <a:ext uri="{FF2B5EF4-FFF2-40B4-BE49-F238E27FC236}">
                <a16:creationId xmlns:a16="http://schemas.microsoft.com/office/drawing/2014/main" id="{BC9A349F-6C1C-48F0-8A82-5832D26D4050}"/>
              </a:ext>
            </a:extLst>
          </p:cNvPr>
          <p:cNvSpPr>
            <a:spLocks xmlns:a="http://schemas.openxmlformats.org/drawingml/2006/main" noGrp="1"/>
          </p:cNvSpPr>
          <p:nvPr/>
        </p:nvSpPr>
        <p:spPr>
          <a:xfrm xmlns:a="http://schemas.openxmlformats.org/drawingml/2006/main">
            <a:off x="723900" y="38100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수업 목표</a:t>
            </a:r>
          </a:p>
        </p:txBody>
      </p:sp>
      <p:sp>
        <p:nvSpPr>
          <p:cNvPr id="5" name="">
            <a:extLst xmlns:a="http://schemas.openxmlformats.org/drawingml/2006/main">
              <a:ext uri="{FF2B5EF4-FFF2-40B4-BE49-F238E27FC236}">
                <a16:creationId xmlns:a16="http://schemas.microsoft.com/office/drawing/2014/main" id="{7EE404CC-4BA5-4295-8EBD-1637D0D5E409}"/>
              </a:ext>
            </a:extLst>
          </p:cNvPr>
          <p:cNvSpPr>
            <a:spLocks xmlns:a="http://schemas.openxmlformats.org/drawingml/2006/main" noGrp="1"/>
          </p:cNvSpPr>
          <p:nvPr/>
        </p:nvSpPr>
        <p:spPr>
          <a:xfrm xmlns:a="http://schemas.openxmlformats.org/drawingml/2006/main">
            <a:off x="3095625" y="38100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검색 경로와 기억의 수명주기를 구분한다</a:t>
            </a:r>
          </a:p>
        </p:txBody>
      </p:sp>
      <p:sp>
        <p:nvSpPr>
          <p:cNvPr id="6" name="">
            <a:extLst xmlns:a="http://schemas.openxmlformats.org/drawingml/2006/main">
              <a:ext uri="{FF2B5EF4-FFF2-40B4-BE49-F238E27FC236}">
                <a16:creationId xmlns:a16="http://schemas.microsoft.com/office/drawing/2014/main" id="{44EF738E-7EDD-44A3-89F7-916D0713888D}"/>
              </a:ext>
            </a:extLst>
          </p:cNvPr>
          <p:cNvSpPr>
            <a:spLocks xmlns:a="http://schemas.openxmlformats.org/drawingml/2006/main" noGrp="1"/>
          </p:cNvSpPr>
          <p:nvPr/>
        </p:nvSpPr>
        <p:spPr>
          <a:xfrm xmlns:a="http://schemas.openxmlformats.org/drawingml/2006/main">
            <a:off x="723900" y="4857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수업 결과</a:t>
            </a:r>
          </a:p>
        </p:txBody>
      </p:sp>
      <p:sp>
        <p:nvSpPr>
          <p:cNvPr id="7" name="">
            <a:extLst xmlns:a="http://schemas.openxmlformats.org/drawingml/2006/main">
              <a:ext uri="{FF2B5EF4-FFF2-40B4-BE49-F238E27FC236}">
                <a16:creationId xmlns:a16="http://schemas.microsoft.com/office/drawing/2014/main" id="{CFD6A21C-409D-41C0-84F7-2190641F60AD}"/>
              </a:ext>
            </a:extLst>
          </p:cNvPr>
          <p:cNvSpPr>
            <a:spLocks xmlns:a="http://schemas.openxmlformats.org/drawingml/2006/main" noGrp="1"/>
          </p:cNvSpPr>
          <p:nvPr/>
        </p:nvSpPr>
        <p:spPr>
          <a:xfrm xmlns:a="http://schemas.openxmlformats.org/drawingml/2006/main">
            <a:off x="3095625" y="4857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출처·시점·수정 이유가 남는 메모 한 장</a:t>
            </a:r>
          </a:p>
        </p:txBody>
      </p:sp>
    </p:spTree>
    <p:extLst>
      <p:ext uri="{BB962C8B-B14F-4D97-AF65-F5344CB8AC3E}">
        <p14:creationId xmlns:p14="http://schemas.microsoft.com/office/powerpoint/2010/main" val="887625517"/>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92E85C-419A-4ED8-9774-B74FBFAB354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RAG의 기본 검색 경로</a:t>
            </a:r>
          </a:p>
        </p:txBody>
      </p:sp>
      <p:sp>
        <p:nvSpPr>
          <p:cNvPr id="2" name="">
            <a:extLst xmlns:a="http://schemas.openxmlformats.org/drawingml/2006/main">
              <a:ext uri="{FF2B5EF4-FFF2-40B4-BE49-F238E27FC236}">
                <a16:creationId xmlns:a16="http://schemas.microsoft.com/office/drawing/2014/main" id="{4F5C704D-ED54-4A77-9275-2EE3D6A13D1D}"/>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03</a:t>
            </a:r>
          </a:p>
        </p:txBody>
      </p:sp>
      <p:sp>
        <p:nvSpPr>
          <p:cNvPr id="3" name="">
            <a:extLst xmlns:a="http://schemas.openxmlformats.org/drawingml/2006/main">
              <a:ext uri="{FF2B5EF4-FFF2-40B4-BE49-F238E27FC236}">
                <a16:creationId xmlns:a16="http://schemas.microsoft.com/office/drawing/2014/main" id="{0A927942-511B-4BF4-A97B-394556432278}"/>
              </a:ext>
            </a:extLst>
          </p:cNvPr>
          <p:cNvSpPr>
            <a:spLocks xmlns:a="http://schemas.openxmlformats.org/drawingml/2006/main" noGrp="1"/>
          </p:cNvSpPr>
          <p:nvPr/>
        </p:nvSpPr>
        <p:spPr>
          <a:xfrm xmlns:a="http://schemas.openxmlformats.org/drawingml/2006/main">
            <a:off x="723900" y="1666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1  질문</a:t>
            </a:r>
          </a:p>
        </p:txBody>
      </p:sp>
      <p:sp>
        <p:nvSpPr>
          <p:cNvPr id="4" name="">
            <a:extLst xmlns:a="http://schemas.openxmlformats.org/drawingml/2006/main">
              <a:ext uri="{FF2B5EF4-FFF2-40B4-BE49-F238E27FC236}">
                <a16:creationId xmlns:a16="http://schemas.microsoft.com/office/drawing/2014/main" id="{48E6D393-A03F-4FBA-A021-F20EB9333DD5}"/>
              </a:ext>
            </a:extLst>
          </p:cNvPr>
          <p:cNvSpPr>
            <a:spLocks xmlns:a="http://schemas.openxmlformats.org/drawingml/2006/main" noGrp="1"/>
          </p:cNvSpPr>
          <p:nvPr/>
        </p:nvSpPr>
        <p:spPr>
          <a:xfrm xmlns:a="http://schemas.openxmlformats.org/drawingml/2006/main">
            <a:off x="3095625" y="1666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“A기업의 2027년 이익 전망은?”</a:t>
            </a:r>
          </a:p>
        </p:txBody>
      </p:sp>
      <p:sp>
        <p:nvSpPr>
          <p:cNvPr id="5" name="">
            <a:extLst xmlns:a="http://schemas.openxmlformats.org/drawingml/2006/main">
              <a:ext uri="{FF2B5EF4-FFF2-40B4-BE49-F238E27FC236}">
                <a16:creationId xmlns:a16="http://schemas.microsoft.com/office/drawing/2014/main" id="{0A2FB147-6CF5-492D-86CB-A2CFC23B9DD2}"/>
              </a:ext>
            </a:extLst>
          </p:cNvPr>
          <p:cNvSpPr>
            <a:spLocks xmlns:a="http://schemas.openxmlformats.org/drawingml/2006/main" noGrp="1"/>
          </p:cNvSpPr>
          <p:nvPr/>
        </p:nvSpPr>
        <p:spPr>
          <a:xfrm xmlns:a="http://schemas.openxmlformats.org/drawingml/2006/main">
            <a:off x="723900" y="2619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2  검색</a:t>
            </a:r>
          </a:p>
        </p:txBody>
      </p:sp>
      <p:sp>
        <p:nvSpPr>
          <p:cNvPr id="6" name="">
            <a:extLst xmlns:a="http://schemas.openxmlformats.org/drawingml/2006/main">
              <a:ext uri="{FF2B5EF4-FFF2-40B4-BE49-F238E27FC236}">
                <a16:creationId xmlns:a16="http://schemas.microsoft.com/office/drawing/2014/main" id="{4F0A473E-8C1E-4496-97E3-A05FC09DEE4E}"/>
              </a:ext>
            </a:extLst>
          </p:cNvPr>
          <p:cNvSpPr>
            <a:spLocks xmlns:a="http://schemas.openxmlformats.org/drawingml/2006/main" noGrp="1"/>
          </p:cNvSpPr>
          <p:nvPr/>
        </p:nvSpPr>
        <p:spPr>
          <a:xfrm xmlns:a="http://schemas.openxmlformats.org/drawingml/2006/main">
            <a:off x="3095625" y="2619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보고서에서 관련 문단과 표를 선택</a:t>
            </a:r>
          </a:p>
        </p:txBody>
      </p:sp>
      <p:sp>
        <p:nvSpPr>
          <p:cNvPr id="7" name="">
            <a:extLst xmlns:a="http://schemas.openxmlformats.org/drawingml/2006/main">
              <a:ext uri="{FF2B5EF4-FFF2-40B4-BE49-F238E27FC236}">
                <a16:creationId xmlns:a16="http://schemas.microsoft.com/office/drawing/2014/main" id="{E4D9EA6E-D394-4E6C-9B37-958416B78424}"/>
              </a:ext>
            </a:extLst>
          </p:cNvPr>
          <p:cNvSpPr>
            <a:spLocks xmlns:a="http://schemas.openxmlformats.org/drawingml/2006/main" noGrp="1"/>
          </p:cNvSpPr>
          <p:nvPr/>
        </p:nvSpPr>
        <p:spPr>
          <a:xfrm xmlns:a="http://schemas.openxmlformats.org/drawingml/2006/main">
            <a:off x="723900" y="3571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3  문맥 구성</a:t>
            </a:r>
          </a:p>
        </p:txBody>
      </p:sp>
      <p:sp>
        <p:nvSpPr>
          <p:cNvPr id="8" name="">
            <a:extLst xmlns:a="http://schemas.openxmlformats.org/drawingml/2006/main">
              <a:ext uri="{FF2B5EF4-FFF2-40B4-BE49-F238E27FC236}">
                <a16:creationId xmlns:a16="http://schemas.microsoft.com/office/drawing/2014/main" id="{29D526E2-EDC7-441D-96D9-788C3DE0F798}"/>
              </a:ext>
            </a:extLst>
          </p:cNvPr>
          <p:cNvSpPr>
            <a:spLocks xmlns:a="http://schemas.openxmlformats.org/drawingml/2006/main" noGrp="1"/>
          </p:cNvSpPr>
          <p:nvPr/>
        </p:nvSpPr>
        <p:spPr>
          <a:xfrm xmlns:a="http://schemas.openxmlformats.org/drawingml/2006/main">
            <a:off x="3095625" y="3571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질문 + 검색 근거 + 답변 규칙</a:t>
            </a:r>
          </a:p>
        </p:txBody>
      </p:sp>
      <p:sp>
        <p:nvSpPr>
          <p:cNvPr id="9" name="">
            <a:extLst xmlns:a="http://schemas.openxmlformats.org/drawingml/2006/main">
              <a:ext uri="{FF2B5EF4-FFF2-40B4-BE49-F238E27FC236}">
                <a16:creationId xmlns:a16="http://schemas.microsoft.com/office/drawing/2014/main" id="{03FD3548-4031-4DBC-96D0-32EEF4DD2CFE}"/>
              </a:ext>
            </a:extLst>
          </p:cNvPr>
          <p:cNvSpPr>
            <a:spLocks xmlns:a="http://schemas.openxmlformats.org/drawingml/2006/main" noGrp="1"/>
          </p:cNvSpPr>
          <p:nvPr/>
        </p:nvSpPr>
        <p:spPr>
          <a:xfrm xmlns:a="http://schemas.openxmlformats.org/drawingml/2006/main">
            <a:off x="723900" y="4524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4  생성</a:t>
            </a:r>
          </a:p>
        </p:txBody>
      </p:sp>
      <p:sp>
        <p:nvSpPr>
          <p:cNvPr id="10" name="">
            <a:extLst xmlns:a="http://schemas.openxmlformats.org/drawingml/2006/main">
              <a:ext uri="{FF2B5EF4-FFF2-40B4-BE49-F238E27FC236}">
                <a16:creationId xmlns:a16="http://schemas.microsoft.com/office/drawing/2014/main" id="{6F04713D-A9AC-4A0F-B3C4-EFFBF066503C}"/>
              </a:ext>
            </a:extLst>
          </p:cNvPr>
          <p:cNvSpPr>
            <a:spLocks xmlns:a="http://schemas.openxmlformats.org/drawingml/2006/main" noGrp="1"/>
          </p:cNvSpPr>
          <p:nvPr/>
        </p:nvSpPr>
        <p:spPr>
          <a:xfrm xmlns:a="http://schemas.openxmlformats.org/drawingml/2006/main">
            <a:off x="3095625" y="4524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근거를 인용해 답변</a:t>
            </a:r>
          </a:p>
        </p:txBody>
      </p:sp>
      <p:sp>
        <p:nvSpPr>
          <p:cNvPr id="11" name="">
            <a:extLst xmlns:a="http://schemas.openxmlformats.org/drawingml/2006/main">
              <a:ext uri="{FF2B5EF4-FFF2-40B4-BE49-F238E27FC236}">
                <a16:creationId xmlns:a16="http://schemas.microsoft.com/office/drawing/2014/main" id="{441EA7D6-E6CF-4DB4-A83A-27026702606A}"/>
              </a:ext>
            </a:extLst>
          </p:cNvPr>
          <p:cNvSpPr>
            <a:spLocks xmlns:a="http://schemas.openxmlformats.org/drawingml/2006/main" noGrp="1"/>
          </p:cNvSpPr>
          <p:nvPr/>
        </p:nvSpPr>
        <p:spPr>
          <a:xfrm xmlns:a="http://schemas.openxmlformats.org/drawingml/2006/main">
            <a:off x="723900" y="5762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검색 품질, 자료의 시점, 인용의 정확성이 답변에 영향을 준다</a:t>
            </a:r>
          </a:p>
        </p:txBody>
      </p:sp>
    </p:spTree>
    <p:extLst>
      <p:ext uri="{BB962C8B-B14F-4D97-AF65-F5344CB8AC3E}">
        <p14:creationId xmlns:p14="http://schemas.microsoft.com/office/powerpoint/2010/main" val="504915663"/>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F4E6BC-E5A4-4386-81B8-9473AF94CAF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검색과 외부 기억의 설계 범위</a:t>
            </a:r>
          </a:p>
        </p:txBody>
      </p:sp>
      <p:sp>
        <p:nvSpPr>
          <p:cNvPr id="2" name="">
            <a:extLst xmlns:a="http://schemas.openxmlformats.org/drawingml/2006/main">
              <a:ext uri="{FF2B5EF4-FFF2-40B4-BE49-F238E27FC236}">
                <a16:creationId xmlns:a16="http://schemas.microsoft.com/office/drawing/2014/main" id="{22E93E16-CFB2-483D-8B98-AF72985A5EE8}"/>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04</a:t>
            </a:r>
          </a:p>
        </p:txBody>
      </p:sp>
      <p:graphicFrame>
        <p:nvGraphicFramePr>
          <p:cNvPr id="3" name="">
            <a:extLst xmlns:a="http://schemas.openxmlformats.org/drawingml/2006/main">
              <a:ext uri="{FF2B5EF4-FFF2-40B4-BE49-F238E27FC236}">
                <a16:creationId xmlns:a16="http://schemas.microsoft.com/office/drawing/2014/main" id="{A258775F-9E1E-4E12-9381-D9968387050C}"/>
              </a:ext>
            </a:extLst>
          </p:cNvPr>
          <p:cNvGraphicFramePr/>
          <p:nvPr/>
        </p:nvGraphicFramePr>
        <p:xfrm>
          <a:off xmlns:a="http://schemas.openxmlformats.org/drawingml/2006/main" x="685800" y="1714500"/>
          <a:ext xmlns:a="http://schemas.openxmlformats.org/drawingml/2006/main" cx="10820400" cy="3667125"/>
        </p:xfrm>
        <a:graphic xmlns:a="http://schemas.openxmlformats.org/drawingml/2006/main">
          <a:graphicData uri="http://schemas.openxmlformats.org/drawingml/2006/table">
            <a:tbl>
              <a:tblPr/>
              <a:tblGrid>
                <a:gridCol w="1905000"/>
                <a:gridCol w="4457700"/>
                <a:gridCol w="4457700"/>
              </a:tblGrid>
              <a:tr h="733425">
                <a:tc>
                  <a:txBody>
                    <a:bodyPr/>
                    <a:lstStyle/>
                    <a:p>
                      <a:r>
                        <a:rPr sz="1800" b="1">
                          <a:solidFill>
                            <a:srgbClr val="FFFFFF"/>
                          </a:solidFill>
                          <a:latin typeface="Noto Sans CJK KR"/>
                          <a:ea typeface="Noto Sans CJK KR"/>
                          <a:cs typeface="Noto Sans CJK KR"/>
                        </a:rPr>
                        <a:t>관점</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RAG 중심 설명</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외부 기억 중심 설명</a:t>
                      </a:r>
                    </a:p>
                  </a:txBody>
                  <a:tcPr marL="91440" marR="91440" marT="45720" marB="45720">
                    <a:solidFill>
                      <a:srgbClr val="112C3E"/>
                    </a:solidFill>
                  </a:tcPr>
                </a:tc>
              </a:tr>
              <a:tr h="733425">
                <a:tc>
                  <a:txBody>
                    <a:bodyPr/>
                    <a:lstStyle/>
                    <a:p>
                      <a:r>
                        <a:rPr sz="1875" b="0">
                          <a:solidFill>
                            <a:srgbClr val="193344"/>
                          </a:solidFill>
                          <a:latin typeface="Noto Sans CJK KR"/>
                          <a:ea typeface="Noto Sans CJK KR"/>
                          <a:cs typeface="Noto Sans CJK KR"/>
                        </a:rPr>
                        <a:t>핵심 질문</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지금 어떤 근거를 찾을까?</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다음에도 무엇을 남길까?</a:t>
                      </a:r>
                    </a:p>
                  </a:txBody>
                  <a:tcPr marL="91440" marR="91440" marT="45720" marB="45720">
                    <a:solidFill>
                      <a:srgbClr val="FFFFFF"/>
                    </a:solidFill>
                  </a:tcPr>
                </a:tc>
              </a:tr>
              <a:tr h="733425">
                <a:tc>
                  <a:txBody>
                    <a:bodyPr/>
                    <a:lstStyle/>
                    <a:p>
                      <a:r>
                        <a:rPr sz="1875" b="0">
                          <a:solidFill>
                            <a:srgbClr val="193344"/>
                          </a:solidFill>
                          <a:latin typeface="Noto Sans CJK KR"/>
                          <a:ea typeface="Noto Sans CJK KR"/>
                          <a:cs typeface="Noto Sans CJK KR"/>
                        </a:rPr>
                        <a:t>주요 작업</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검색·선택·인용</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읽기·쓰기·갱신·폐기</a:t>
                      </a:r>
                    </a:p>
                  </a:txBody>
                  <a:tcPr marL="91440" marR="91440" marT="45720" marB="45720">
                    <a:solidFill>
                      <a:srgbClr val="E5EFED"/>
                    </a:solidFill>
                  </a:tcPr>
                </a:tc>
              </a:tr>
              <a:tr h="733425">
                <a:tc>
                  <a:txBody>
                    <a:bodyPr/>
                    <a:lstStyle/>
                    <a:p>
                      <a:r>
                        <a:rPr sz="1875" b="0">
                          <a:solidFill>
                            <a:srgbClr val="193344"/>
                          </a:solidFill>
                          <a:latin typeface="Noto Sans CJK KR"/>
                          <a:ea typeface="Noto Sans CJK KR"/>
                          <a:cs typeface="Noto Sans CJK KR"/>
                        </a:rPr>
                        <a:t>저장 내용</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원문과 검색 인덱스</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사실·관계·이력·검증 상태</a:t>
                      </a:r>
                    </a:p>
                  </a:txBody>
                  <a:tcPr marL="91440" marR="91440" marT="45720" marB="45720">
                    <a:solidFill>
                      <a:srgbClr val="FFFFFF"/>
                    </a:solidFill>
                  </a:tcPr>
                </a:tc>
              </a:tr>
              <a:tr h="733425">
                <a:tc>
                  <a:txBody>
                    <a:bodyPr/>
                    <a:lstStyle/>
                    <a:p>
                      <a:r>
                        <a:rPr sz="1875" b="0">
                          <a:solidFill>
                            <a:srgbClr val="193344"/>
                          </a:solidFill>
                          <a:latin typeface="Noto Sans CJK KR"/>
                          <a:ea typeface="Noto Sans CJK KR"/>
                          <a:cs typeface="Noto Sans CJK KR"/>
                        </a:rPr>
                        <a:t>함께 쓰기</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원문 검색으로 검증</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기억 검색으로 이전 맥락 재사용</a:t>
                      </a:r>
                    </a:p>
                  </a:txBody>
                  <a:tcPr marL="91440" marR="91440" marT="45720" marB="45720">
                    <a:solidFill>
                      <a:srgbClr val="E5EFED"/>
                    </a:solidFill>
                  </a:tcPr>
                </a:tc>
              </a:tr>
            </a:tbl>
          </a:graphicData>
        </a:graphic>
      </p:graphicFrame>
      <p:sp>
        <p:nvSpPr>
          <p:cNvPr id="4" name="">
            <a:extLst xmlns:a="http://schemas.openxmlformats.org/drawingml/2006/main">
              <a:ext uri="{FF2B5EF4-FFF2-40B4-BE49-F238E27FC236}">
                <a16:creationId xmlns:a16="http://schemas.microsoft.com/office/drawing/2014/main" id="{D72926E1-9C3D-4857-9F01-6E8C97F80BC8}"/>
              </a:ext>
            </a:extLst>
          </p:cNvPr>
          <p:cNvSpPr>
            <a:spLocks xmlns:a="http://schemas.openxmlformats.org/drawingml/2006/main" noGrp="1"/>
          </p:cNvSpPr>
          <p:nvPr/>
        </p:nvSpPr>
        <p:spPr>
          <a:xfrm xmlns:a="http://schemas.openxmlformats.org/drawingml/2006/main">
            <a:off x="723900" y="57340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외부 파일 저장은 모델 가중치 학습과 구분한다</a:t>
            </a:r>
          </a:p>
        </p:txBody>
      </p:sp>
    </p:spTree>
    <p:extLst>
      <p:ext uri="{BB962C8B-B14F-4D97-AF65-F5344CB8AC3E}">
        <p14:creationId xmlns:p14="http://schemas.microsoft.com/office/powerpoint/2010/main" val="370265209"/>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29C606-FB1C-46A1-9961-135246E0EB55}"/>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Karpathy의 LLM Wiki 제안</a:t>
            </a:r>
          </a:p>
        </p:txBody>
      </p:sp>
      <p:sp>
        <p:nvSpPr>
          <p:cNvPr id="2" name="">
            <a:extLst xmlns:a="http://schemas.openxmlformats.org/drawingml/2006/main">
              <a:ext uri="{FF2B5EF4-FFF2-40B4-BE49-F238E27FC236}">
                <a16:creationId xmlns:a16="http://schemas.microsoft.com/office/drawing/2014/main" id="{F90FEB6A-D24A-4350-9898-E0F7274AD234}"/>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05</a:t>
            </a:r>
          </a:p>
        </p:txBody>
      </p:sp>
      <p:sp>
        <p:nvSpPr>
          <p:cNvPr id="3" name="">
            <a:extLst xmlns:a="http://schemas.openxmlformats.org/drawingml/2006/main">
              <a:ext uri="{FF2B5EF4-FFF2-40B4-BE49-F238E27FC236}">
                <a16:creationId xmlns:a16="http://schemas.microsoft.com/office/drawing/2014/main" id="{6C16BC68-5AD4-406D-A73A-7A21AA1193F9}"/>
              </a:ext>
            </a:extLst>
          </p:cNvPr>
          <p:cNvSpPr>
            <a:spLocks xmlns:a="http://schemas.openxmlformats.org/drawingml/2006/main" noGrp="1"/>
          </p:cNvSpPr>
          <p:nvPr/>
        </p:nvSpPr>
        <p:spPr>
          <a:xfrm xmlns:a="http://schemas.openxmlformats.org/drawingml/2006/main">
            <a:off x="723900" y="1619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2C3E"/>
                </a:solidFill>
                <a:latin typeface="Noto Sans CJK KR"/>
                <a:ea typeface="Noto Sans CJK KR"/>
                <a:cs typeface="Noto Sans CJK KR"/>
              </a:defRPr>
            </a:defPPr>
          </a:lstStyle>
          <a:p xmlns:a="http://schemas.openxmlformats.org/drawingml/2006/main">
            <a:pPr>
              <a:defRPr sz="3225" b="1">
                <a:solidFill>
                  <a:srgbClr val="112C3E"/>
                </a:solidFill>
                <a:latin typeface="Noto Sans CJK KR"/>
                <a:ea typeface="Noto Sans CJK KR"/>
                <a:cs typeface="Noto Sans CJK KR"/>
              </a:defRPr>
            </a:pPr>
            <a:r>
              <a:rPr sz="3225" b="1">
                <a:solidFill>
                  <a:srgbClr val="112C3E"/>
                </a:solidFill>
                <a:latin typeface="Noto Sans CJK KR"/>
                <a:ea typeface="Noto Sans CJK KR"/>
                <a:cs typeface="Noto Sans CJK KR"/>
              </a:rPr>
              <a:t>원문을 보존하고,</a:t>
            </a:r>
          </a:p>
          <a:p xmlns:a="http://schemas.openxmlformats.org/drawingml/2006/main">
            <a:pPr>
              <a:defRPr sz="3225" b="1">
                <a:solidFill>
                  <a:srgbClr val="112C3E"/>
                </a:solidFill>
                <a:latin typeface="Noto Sans CJK KR"/>
                <a:ea typeface="Noto Sans CJK KR"/>
                <a:cs typeface="Noto Sans CJK KR"/>
              </a:defRPr>
            </a:pPr>
            <a:r>
              <a:rPr sz="3225" b="1">
                <a:solidFill>
                  <a:srgbClr val="112C3E"/>
                </a:solidFill>
                <a:latin typeface="Noto Sans CJK KR"/>
                <a:ea typeface="Noto Sans CJK KR"/>
                <a:cs typeface="Noto Sans CJK KR"/>
              </a:rPr>
              <a:t>에이전트가 연결된 위키를 관리한다</a:t>
            </a:r>
          </a:p>
        </p:txBody>
      </p:sp>
      <p:sp>
        <p:nvSpPr>
          <p:cNvPr id="4" name="">
            <a:extLst xmlns:a="http://schemas.openxmlformats.org/drawingml/2006/main">
              <a:ext uri="{FF2B5EF4-FFF2-40B4-BE49-F238E27FC236}">
                <a16:creationId xmlns:a16="http://schemas.microsoft.com/office/drawing/2014/main" id="{94A0D433-6F04-416C-AF57-78FD40903E50}"/>
              </a:ext>
            </a:extLst>
          </p:cNvPr>
          <p:cNvSpPr>
            <a:spLocks xmlns:a="http://schemas.openxmlformats.org/drawingml/2006/main" noGrp="1"/>
          </p:cNvSpPr>
          <p:nvPr/>
        </p:nvSpPr>
        <p:spPr>
          <a:xfrm xmlns:a="http://schemas.openxmlformats.org/drawingml/2006/main">
            <a:off x="723900" y="3524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raw sources</a:t>
            </a:r>
          </a:p>
        </p:txBody>
      </p:sp>
      <p:sp>
        <p:nvSpPr>
          <p:cNvPr id="5" name="">
            <a:extLst xmlns:a="http://schemas.openxmlformats.org/drawingml/2006/main">
              <a:ext uri="{FF2B5EF4-FFF2-40B4-BE49-F238E27FC236}">
                <a16:creationId xmlns:a16="http://schemas.microsoft.com/office/drawing/2014/main" id="{9FE193CD-9A97-47DE-B7F0-7FF6FA51EF62}"/>
              </a:ext>
            </a:extLst>
          </p:cNvPr>
          <p:cNvSpPr>
            <a:spLocks xmlns:a="http://schemas.openxmlformats.org/drawingml/2006/main" noGrp="1"/>
          </p:cNvSpPr>
          <p:nvPr/>
        </p:nvSpPr>
        <p:spPr>
          <a:xfrm xmlns:a="http://schemas.openxmlformats.org/drawingml/2006/main">
            <a:off x="3095625" y="3524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논문·보고서·기사 등 원본 자료</a:t>
            </a:r>
          </a:p>
        </p:txBody>
      </p:sp>
      <p:sp>
        <p:nvSpPr>
          <p:cNvPr id="6" name="">
            <a:extLst xmlns:a="http://schemas.openxmlformats.org/drawingml/2006/main">
              <a:ext uri="{FF2B5EF4-FFF2-40B4-BE49-F238E27FC236}">
                <a16:creationId xmlns:a16="http://schemas.microsoft.com/office/drawing/2014/main" id="{A9FE5727-444A-4DB8-B2FF-7E218F67C7CA}"/>
              </a:ext>
            </a:extLst>
          </p:cNvPr>
          <p:cNvSpPr>
            <a:spLocks xmlns:a="http://schemas.openxmlformats.org/drawingml/2006/main" noGrp="1"/>
          </p:cNvSpPr>
          <p:nvPr/>
        </p:nvSpPr>
        <p:spPr>
          <a:xfrm xmlns:a="http://schemas.openxmlformats.org/drawingml/2006/main">
            <a:off x="723900" y="4381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wiki</a:t>
            </a:r>
          </a:p>
        </p:txBody>
      </p:sp>
      <p:sp>
        <p:nvSpPr>
          <p:cNvPr id="7" name="">
            <a:extLst xmlns:a="http://schemas.openxmlformats.org/drawingml/2006/main">
              <a:ext uri="{FF2B5EF4-FFF2-40B4-BE49-F238E27FC236}">
                <a16:creationId xmlns:a16="http://schemas.microsoft.com/office/drawing/2014/main" id="{71895D50-6917-43D7-8B34-CD995CA6D728}"/>
              </a:ext>
            </a:extLst>
          </p:cNvPr>
          <p:cNvSpPr>
            <a:spLocks xmlns:a="http://schemas.openxmlformats.org/drawingml/2006/main" noGrp="1"/>
          </p:cNvSpPr>
          <p:nvPr/>
        </p:nvSpPr>
        <p:spPr>
          <a:xfrm xmlns:a="http://schemas.openxmlformats.org/drawingml/2006/main">
            <a:off x="3095625" y="4381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요약·개념·주체별 페이지와 출처 링크</a:t>
            </a:r>
          </a:p>
        </p:txBody>
      </p:sp>
      <p:sp>
        <p:nvSpPr>
          <p:cNvPr id="8" name="">
            <a:extLst xmlns:a="http://schemas.openxmlformats.org/drawingml/2006/main">
              <a:ext uri="{FF2B5EF4-FFF2-40B4-BE49-F238E27FC236}">
                <a16:creationId xmlns:a16="http://schemas.microsoft.com/office/drawing/2014/main" id="{C9E43F41-D069-4802-B828-A8176B424092}"/>
              </a:ext>
            </a:extLst>
          </p:cNvPr>
          <p:cNvSpPr>
            <a:spLocks xmlns:a="http://schemas.openxmlformats.org/drawingml/2006/main" noGrp="1"/>
          </p:cNvSpPr>
          <p:nvPr/>
        </p:nvSpPr>
        <p:spPr>
          <a:xfrm xmlns:a="http://schemas.openxmlformats.org/drawingml/2006/main">
            <a:off x="723900" y="5238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schema</a:t>
            </a:r>
          </a:p>
        </p:txBody>
      </p:sp>
      <p:sp>
        <p:nvSpPr>
          <p:cNvPr id="9" name="">
            <a:extLst xmlns:a="http://schemas.openxmlformats.org/drawingml/2006/main">
              <a:ext uri="{FF2B5EF4-FFF2-40B4-BE49-F238E27FC236}">
                <a16:creationId xmlns:a16="http://schemas.microsoft.com/office/drawing/2014/main" id="{5DB161B5-CF67-4DA7-92BA-C5F89ECB2A64}"/>
              </a:ext>
            </a:extLst>
          </p:cNvPr>
          <p:cNvSpPr>
            <a:spLocks xmlns:a="http://schemas.openxmlformats.org/drawingml/2006/main" noGrp="1"/>
          </p:cNvSpPr>
          <p:nvPr/>
        </p:nvSpPr>
        <p:spPr>
          <a:xfrm xmlns:a="http://schemas.openxmlformats.org/drawingml/2006/main">
            <a:off x="3095625" y="5238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폴더 구조, 작성 규칙, 갱신 절차</a:t>
            </a:r>
          </a:p>
        </p:txBody>
      </p:sp>
    </p:spTree>
    <p:extLst>
      <p:ext uri="{BB962C8B-B14F-4D97-AF65-F5344CB8AC3E}">
        <p14:creationId xmlns:p14="http://schemas.microsoft.com/office/powerpoint/2010/main" val="994686310"/>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DEE0F0-A9F7-4D5D-91A7-B18FCD964D9F}"/>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기억 저장소의 세 층</a:t>
            </a:r>
          </a:p>
        </p:txBody>
      </p:sp>
      <p:sp>
        <p:nvSpPr>
          <p:cNvPr id="2" name="">
            <a:extLst xmlns:a="http://schemas.openxmlformats.org/drawingml/2006/main">
              <a:ext uri="{FF2B5EF4-FFF2-40B4-BE49-F238E27FC236}">
                <a16:creationId xmlns:a16="http://schemas.microsoft.com/office/drawing/2014/main" id="{AC7684E7-A462-4C7A-85D4-DC9F9BA7D5F9}"/>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06</a:t>
            </a:r>
          </a:p>
        </p:txBody>
      </p:sp>
      <p:sp>
        <p:nvSpPr>
          <p:cNvPr id="3" name="">
            <a:extLst xmlns:a="http://schemas.openxmlformats.org/drawingml/2006/main">
              <a:ext uri="{FF2B5EF4-FFF2-40B4-BE49-F238E27FC236}">
                <a16:creationId xmlns:a16="http://schemas.microsoft.com/office/drawing/2014/main" id="{4C01B2D9-46F0-4C88-9D66-92E245A5BF12}"/>
              </a:ext>
            </a:extLst>
          </p:cNvPr>
          <p:cNvSpPr>
            <a:spLocks xmlns:a="http://schemas.openxmlformats.org/drawingml/2006/main" noGrp="1"/>
          </p:cNvSpPr>
          <p:nvPr/>
        </p:nvSpPr>
        <p:spPr>
          <a:xfrm xmlns:a="http://schemas.openxmlformats.org/drawingml/2006/main">
            <a:off x="723900" y="1714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01  원문</a:t>
            </a:r>
          </a:p>
        </p:txBody>
      </p:sp>
      <p:sp>
        <p:nvSpPr>
          <p:cNvPr id="4" name="">
            <a:extLst xmlns:a="http://schemas.openxmlformats.org/drawingml/2006/main">
              <a:ext uri="{FF2B5EF4-FFF2-40B4-BE49-F238E27FC236}">
                <a16:creationId xmlns:a16="http://schemas.microsoft.com/office/drawing/2014/main" id="{FFB2B69F-784C-464E-9778-09D2006629BF}"/>
              </a:ext>
            </a:extLst>
          </p:cNvPr>
          <p:cNvSpPr>
            <a:spLocks xmlns:a="http://schemas.openxmlformats.org/drawingml/2006/main" noGrp="1"/>
          </p:cNvSpPr>
          <p:nvPr/>
        </p:nvSpPr>
        <p:spPr>
          <a:xfrm xmlns:a="http://schemas.openxmlformats.org/drawingml/2006/main">
            <a:off x="3095625" y="1714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sources/   보고서 원본과 수집 시점</a:t>
            </a:r>
          </a:p>
        </p:txBody>
      </p:sp>
      <p:sp>
        <p:nvSpPr>
          <p:cNvPr id="5" name="">
            <a:extLst xmlns:a="http://schemas.openxmlformats.org/drawingml/2006/main">
              <a:ext uri="{FF2B5EF4-FFF2-40B4-BE49-F238E27FC236}">
                <a16:creationId xmlns:a16="http://schemas.microsoft.com/office/drawing/2014/main" id="{BE7575A9-EFA5-4016-A87C-AD0EAA0E99DA}"/>
              </a:ext>
            </a:extLst>
          </p:cNvPr>
          <p:cNvSpPr>
            <a:spLocks xmlns:a="http://schemas.openxmlformats.org/drawingml/2006/main" noGrp="1"/>
          </p:cNvSpPr>
          <p:nvPr/>
        </p:nvSpPr>
        <p:spPr>
          <a:xfrm xmlns:a="http://schemas.openxmlformats.org/drawingml/2006/main">
            <a:off x="3095625" y="2238375"/>
            <a:ext cx="819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증거를 보존한다. 수정본은 별도 버전으로 추가한다.</a:t>
            </a:r>
          </a:p>
        </p:txBody>
      </p:sp>
      <p:sp>
        <p:nvSpPr>
          <p:cNvPr id="6" name="">
            <a:extLst xmlns:a="http://schemas.openxmlformats.org/drawingml/2006/main">
              <a:ext uri="{FF2B5EF4-FFF2-40B4-BE49-F238E27FC236}">
                <a16:creationId xmlns:a16="http://schemas.microsoft.com/office/drawing/2014/main" id="{3ADCF676-9D38-457C-9B9B-8EB0A7C7CD05}"/>
              </a:ext>
            </a:extLst>
          </p:cNvPr>
          <p:cNvSpPr>
            <a:spLocks xmlns:a="http://schemas.openxmlformats.org/drawingml/2006/main" noGrp="1"/>
          </p:cNvSpPr>
          <p:nvPr/>
        </p:nvSpPr>
        <p:spPr>
          <a:xfrm xmlns:a="http://schemas.openxmlformats.org/drawingml/2006/main">
            <a:off x="723900" y="3238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02  파생 위키</a:t>
            </a:r>
          </a:p>
        </p:txBody>
      </p:sp>
      <p:sp>
        <p:nvSpPr>
          <p:cNvPr id="7" name="">
            <a:extLst xmlns:a="http://schemas.openxmlformats.org/drawingml/2006/main">
              <a:ext uri="{FF2B5EF4-FFF2-40B4-BE49-F238E27FC236}">
                <a16:creationId xmlns:a16="http://schemas.microsoft.com/office/drawing/2014/main" id="{F9018DE0-692F-4E57-B132-8739CBD8BC29}"/>
              </a:ext>
            </a:extLst>
          </p:cNvPr>
          <p:cNvSpPr>
            <a:spLocks xmlns:a="http://schemas.openxmlformats.org/drawingml/2006/main" noGrp="1"/>
          </p:cNvSpPr>
          <p:nvPr/>
        </p:nvSpPr>
        <p:spPr>
          <a:xfrm xmlns:a="http://schemas.openxmlformats.org/drawingml/2006/main">
            <a:off x="3095625" y="3238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wiki/   기업·개념·주장·수정 이력</a:t>
            </a:r>
          </a:p>
        </p:txBody>
      </p:sp>
      <p:sp>
        <p:nvSpPr>
          <p:cNvPr id="8" name="">
            <a:extLst xmlns:a="http://schemas.openxmlformats.org/drawingml/2006/main">
              <a:ext uri="{FF2B5EF4-FFF2-40B4-BE49-F238E27FC236}">
                <a16:creationId xmlns:a16="http://schemas.microsoft.com/office/drawing/2014/main" id="{DB3D2099-433D-4244-9646-528CBD32CFC4}"/>
              </a:ext>
            </a:extLst>
          </p:cNvPr>
          <p:cNvSpPr>
            <a:spLocks xmlns:a="http://schemas.openxmlformats.org/drawingml/2006/main" noGrp="1"/>
          </p:cNvSpPr>
          <p:nvPr/>
        </p:nvSpPr>
        <p:spPr>
          <a:xfrm xmlns:a="http://schemas.openxmlformats.org/drawingml/2006/main">
            <a:off x="3095625" y="3762375"/>
            <a:ext cx="819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해석을 기록한다. 모든 핵심 주장에 원문 위치를 붙인다.</a:t>
            </a:r>
          </a:p>
        </p:txBody>
      </p:sp>
      <p:sp>
        <p:nvSpPr>
          <p:cNvPr id="9" name="">
            <a:extLst xmlns:a="http://schemas.openxmlformats.org/drawingml/2006/main">
              <a:ext uri="{FF2B5EF4-FFF2-40B4-BE49-F238E27FC236}">
                <a16:creationId xmlns:a16="http://schemas.microsoft.com/office/drawing/2014/main" id="{3CE0784C-648B-46D8-9835-12D694AA60C3}"/>
              </a:ext>
            </a:extLst>
          </p:cNvPr>
          <p:cNvSpPr>
            <a:spLocks xmlns:a="http://schemas.openxmlformats.org/drawingml/2006/main" noGrp="1"/>
          </p:cNvSpPr>
          <p:nvPr/>
        </p:nvSpPr>
        <p:spPr>
          <a:xfrm xmlns:a="http://schemas.openxmlformats.org/drawingml/2006/main">
            <a:off x="723900" y="4762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03  검색 인덱스</a:t>
            </a:r>
          </a:p>
        </p:txBody>
      </p:sp>
      <p:sp>
        <p:nvSpPr>
          <p:cNvPr id="10" name="">
            <a:extLst xmlns:a="http://schemas.openxmlformats.org/drawingml/2006/main">
              <a:ext uri="{FF2B5EF4-FFF2-40B4-BE49-F238E27FC236}">
                <a16:creationId xmlns:a16="http://schemas.microsoft.com/office/drawing/2014/main" id="{07CD7FFF-5C33-4134-94CF-C4D5CDA54CF3}"/>
              </a:ext>
            </a:extLst>
          </p:cNvPr>
          <p:cNvSpPr>
            <a:spLocks xmlns:a="http://schemas.openxmlformats.org/drawingml/2006/main" noGrp="1"/>
          </p:cNvSpPr>
          <p:nvPr/>
        </p:nvSpPr>
        <p:spPr>
          <a:xfrm xmlns:a="http://schemas.openxmlformats.org/drawingml/2006/main">
            <a:off x="3095625" y="4762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index/   키워드·벡터 등 검색용 자료</a:t>
            </a:r>
          </a:p>
        </p:txBody>
      </p:sp>
      <p:sp>
        <p:nvSpPr>
          <p:cNvPr id="11" name="">
            <a:extLst xmlns:a="http://schemas.openxmlformats.org/drawingml/2006/main">
              <a:ext uri="{FF2B5EF4-FFF2-40B4-BE49-F238E27FC236}">
                <a16:creationId xmlns:a16="http://schemas.microsoft.com/office/drawing/2014/main" id="{985659AF-BDF8-4D09-B9AD-74CB7C96097E}"/>
              </a:ext>
            </a:extLst>
          </p:cNvPr>
          <p:cNvSpPr>
            <a:spLocks xmlns:a="http://schemas.openxmlformats.org/drawingml/2006/main" noGrp="1"/>
          </p:cNvSpPr>
          <p:nvPr/>
        </p:nvSpPr>
        <p:spPr>
          <a:xfrm xmlns:a="http://schemas.openxmlformats.org/drawingml/2006/main">
            <a:off x="3095625" y="5286375"/>
            <a:ext cx="819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찾는 속도를 높인다. 위키와 원문을 갱신하면 다시 만든다.</a:t>
            </a:r>
          </a:p>
        </p:txBody>
      </p:sp>
    </p:spTree>
    <p:extLst>
      <p:ext uri="{BB962C8B-B14F-4D97-AF65-F5344CB8AC3E}">
        <p14:creationId xmlns:p14="http://schemas.microsoft.com/office/powerpoint/2010/main" val="169788750"/>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8BC334-B453-4BFC-A2CA-07CB1D44C46F}"/>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Obsidian의 역할</a:t>
            </a:r>
          </a:p>
        </p:txBody>
      </p:sp>
      <p:sp>
        <p:nvSpPr>
          <p:cNvPr id="2" name="">
            <a:extLst xmlns:a="http://schemas.openxmlformats.org/drawingml/2006/main">
              <a:ext uri="{FF2B5EF4-FFF2-40B4-BE49-F238E27FC236}">
                <a16:creationId xmlns:a16="http://schemas.microsoft.com/office/drawing/2014/main" id="{530AA4FB-89B7-4A53-9B14-D0D0E1957818}"/>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07</a:t>
            </a:r>
          </a:p>
        </p:txBody>
      </p:sp>
      <p:sp>
        <p:nvSpPr>
          <p:cNvPr id="3" name="">
            <a:extLst xmlns:a="http://schemas.openxmlformats.org/drawingml/2006/main">
              <a:ext uri="{FF2B5EF4-FFF2-40B4-BE49-F238E27FC236}">
                <a16:creationId xmlns:a16="http://schemas.microsoft.com/office/drawing/2014/main" id="{314BBDB8-1626-4BF3-9CA1-67A28DD4A2A4}"/>
              </a:ext>
            </a:extLst>
          </p:cNvPr>
          <p:cNvSpPr>
            <a:spLocks xmlns:a="http://schemas.openxmlformats.org/drawingml/2006/main" noGrp="1"/>
          </p:cNvSpPr>
          <p:nvPr/>
        </p:nvSpPr>
        <p:spPr>
          <a:xfrm xmlns:a="http://schemas.openxmlformats.org/drawingml/2006/main">
            <a:off x="723900" y="1714500"/>
            <a:ext cx="5334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12C3E"/>
                </a:solidFill>
                <a:latin typeface="Noto Sans CJK KR"/>
                <a:ea typeface="Noto Sans CJK KR"/>
                <a:cs typeface="Noto Sans CJK KR"/>
              </a:defRPr>
            </a:defPPr>
          </a:lstStyle>
          <a:p xmlns:a="http://schemas.openxmlformats.org/drawingml/2006/main">
            <a:pPr>
              <a:defRPr sz="2925" b="1">
                <a:solidFill>
                  <a:srgbClr val="112C3E"/>
                </a:solidFill>
                <a:latin typeface="Noto Sans CJK KR"/>
                <a:ea typeface="Noto Sans CJK KR"/>
                <a:cs typeface="Noto Sans CJK KR"/>
              </a:defRPr>
            </a:pPr>
            <a:r>
              <a:rPr sz="2925" b="1">
                <a:solidFill>
                  <a:srgbClr val="112C3E"/>
                </a:solidFill>
                <a:latin typeface="Noto Sans CJK KR"/>
                <a:ea typeface="Noto Sans CJK KR"/>
                <a:cs typeface="Noto Sans CJK KR"/>
              </a:rPr>
              <a:t>로컬 파일을 읽고</a:t>
            </a:r>
          </a:p>
          <a:p xmlns:a="http://schemas.openxmlformats.org/drawingml/2006/main">
            <a:pPr>
              <a:defRPr sz="2925" b="1">
                <a:solidFill>
                  <a:srgbClr val="112C3E"/>
                </a:solidFill>
                <a:latin typeface="Noto Sans CJK KR"/>
                <a:ea typeface="Noto Sans CJK KR"/>
                <a:cs typeface="Noto Sans CJK KR"/>
              </a:defRPr>
            </a:pPr>
            <a:r>
              <a:rPr sz="2925" b="1">
                <a:solidFill>
                  <a:srgbClr val="112C3E"/>
                </a:solidFill>
                <a:latin typeface="Noto Sans CJK KR"/>
                <a:ea typeface="Noto Sans CJK KR"/>
                <a:cs typeface="Noto Sans CJK KR"/>
              </a:rPr>
              <a:t>편집하는 작업 공간</a:t>
            </a:r>
          </a:p>
        </p:txBody>
      </p:sp>
      <p:sp>
        <p:nvSpPr>
          <p:cNvPr id="4" name="">
            <a:extLst xmlns:a="http://schemas.openxmlformats.org/drawingml/2006/main">
              <a:ext uri="{FF2B5EF4-FFF2-40B4-BE49-F238E27FC236}">
                <a16:creationId xmlns:a16="http://schemas.microsoft.com/office/drawing/2014/main" id="{27087D59-3CC4-4C28-956F-E9A150064BD5}"/>
              </a:ext>
            </a:extLst>
          </p:cNvPr>
          <p:cNvSpPr>
            <a:spLocks xmlns:a="http://schemas.openxmlformats.org/drawingml/2006/main" noGrp="1"/>
          </p:cNvSpPr>
          <p:nvPr/>
        </p:nvSpPr>
        <p:spPr>
          <a:xfrm xmlns:a="http://schemas.openxmlformats.org/drawingml/2006/main">
            <a:off x="723900" y="3381375"/>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344"/>
                </a:solidFill>
                <a:latin typeface="Noto Sans CJK KR"/>
                <a:ea typeface="Noto Sans CJK KR"/>
                <a:cs typeface="Noto Sans CJK KR"/>
              </a:defRPr>
            </a:defPPr>
          </a:lstStyle>
          <a:p xmlns:a="http://schemas.openxmlformats.org/drawingml/2006/main">
            <a:pPr>
              <a:defRPr sz="2175" b="0">
                <a:solidFill>
                  <a:srgbClr val="193344"/>
                </a:solidFill>
                <a:latin typeface="Noto Sans CJK KR"/>
                <a:ea typeface="Noto Sans CJK KR"/>
                <a:cs typeface="Noto Sans CJK KR"/>
              </a:defRPr>
            </a:pPr>
            <a:r>
              <a:rPr sz="2175" b="0">
                <a:solidFill>
                  <a:srgbClr val="193344"/>
                </a:solidFill>
                <a:latin typeface="Noto Sans CJK KR"/>
                <a:ea typeface="Noto Sans CJK KR"/>
                <a:cs typeface="Noto Sans CJK KR"/>
              </a:rPr>
              <a:t>사람: 검토·수정·승인</a:t>
            </a:r>
          </a:p>
          <a:p xmlns:a="http://schemas.openxmlformats.org/drawingml/2006/main">
            <a:pPr>
              <a:defRPr sz="2175" b="0">
                <a:solidFill>
                  <a:srgbClr val="193344"/>
                </a:solidFill>
                <a:latin typeface="Noto Sans CJK KR"/>
                <a:ea typeface="Noto Sans CJK KR"/>
                <a:cs typeface="Noto Sans CJK KR"/>
              </a:defRPr>
            </a:pPr>
            <a:r>
              <a:rPr sz="2175" b="0">
                <a:solidFill>
                  <a:srgbClr val="193344"/>
                </a:solidFill>
                <a:latin typeface="Noto Sans CJK KR"/>
                <a:ea typeface="Noto Sans CJK KR"/>
                <a:cs typeface="Noto Sans CJK KR"/>
              </a:rPr>
              <a:t>에이전트: 별도 권한으로 갱신</a:t>
            </a:r>
          </a:p>
          <a:p xmlns:a="http://schemas.openxmlformats.org/drawingml/2006/main">
            <a:pPr>
              <a:defRPr sz="2175" b="0">
                <a:solidFill>
                  <a:srgbClr val="193344"/>
                </a:solidFill>
                <a:latin typeface="Noto Sans CJK KR"/>
                <a:ea typeface="Noto Sans CJK KR"/>
                <a:cs typeface="Noto Sans CJK KR"/>
              </a:defRPr>
            </a:pPr>
            <a:r>
              <a:rPr sz="2175" b="0">
                <a:solidFill>
                  <a:srgbClr val="193344"/>
                </a:solidFill>
                <a:latin typeface="Noto Sans CJK KR"/>
                <a:ea typeface="Noto Sans CJK KR"/>
                <a:cs typeface="Noto Sans CJK KR"/>
              </a:rPr>
              <a:t>Obsidian: 검색·링크·백링크</a:t>
            </a:r>
          </a:p>
        </p:txBody>
      </p:sp>
      <p:pic>
        <p:nvPicPr>
          <p:cNvPr id="5" name="">
            <a:extLst xmlns:a="http://schemas.openxmlformats.org/drawingml/2006/main">
              <a:ext uri="{FF2B5EF4-FFF2-40B4-BE49-F238E27FC236}">
                <a16:creationId xmlns:a16="http://schemas.microsoft.com/office/drawing/2014/main" id="{C4ECCE18-98D0-419D-9670-43447B1CA545}"/>
              </a:ext>
            </a:extLst>
          </p:cNvPr>
          <p:cNvPicPr>
            <a:picLocks xmlns:a="http://schemas.openxmlformats.org/drawingml/2006/main" noChangeAspect="1"/>
          </p:cNvPicPr>
          <p:nvPr/>
        </p:nvPicPr>
        <p:blipFill>
          <a:blip xmlns:r="http://schemas.openxmlformats.org/officeDocument/2006/relationships" xmlns:a="http://schemas.openxmlformats.org/drawingml/2006/main" r:embed="Re62b89b58531485a"/>
          <a:stretch xmlns:a="http://schemas.openxmlformats.org/drawingml/2006/main"/>
        </p:blipFill>
        <p:spPr>
          <a:xfrm xmlns:a="http://schemas.openxmlformats.org/drawingml/2006/main">
            <a:off x="6429457" y="1762125"/>
            <a:ext cx="5095710" cy="3409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F4508B-C56A-4730-9B7B-78920B819DC8}"/>
              </a:ext>
            </a:extLst>
          </p:cNvPr>
          <p:cNvSpPr>
            <a:spLocks xmlns:a="http://schemas.openxmlformats.org/drawingml/2006/main" noGrp="1"/>
          </p:cNvSpPr>
          <p:nvPr/>
        </p:nvSpPr>
        <p:spPr>
          <a:xfrm xmlns:a="http://schemas.openxmlformats.org/drawingml/2006/main">
            <a:off x="6477000" y="52863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16873"/>
                </a:solidFill>
                <a:latin typeface="Noto Sans CJK KR"/>
                <a:ea typeface="Noto Sans CJK KR"/>
                <a:cs typeface="Noto Sans CJK KR"/>
              </a:defRPr>
            </a:defPPr>
          </a:lstStyle>
          <a:p xmlns:a="http://schemas.openxmlformats.org/drawingml/2006/main">
            <a:pPr>
              <a:defRPr sz="1500" b="0">
                <a:solidFill>
                  <a:srgbClr val="516873"/>
                </a:solidFill>
                <a:latin typeface="Noto Sans CJK KR"/>
                <a:ea typeface="Noto Sans CJK KR"/>
                <a:cs typeface="Noto Sans CJK KR"/>
              </a:defRPr>
            </a:pPr>
            <a:r>
              <a:rPr sz="1500" b="0">
                <a:solidFill>
                  <a:srgbClr val="516873"/>
                </a:solidFill>
                <a:latin typeface="Noto Sans CJK KR"/>
                <a:ea typeface="Noto Sans CJK KR"/>
                <a:cs typeface="Noto Sans CJK KR"/>
              </a:rPr>
              <a:t>공식 도움말의 Graph view 예시</a:t>
            </a:r>
          </a:p>
        </p:txBody>
      </p:sp>
      <p:sp>
        <p:nvSpPr>
          <p:cNvPr id="7" name="">
            <a:extLst xmlns:a="http://schemas.openxmlformats.org/drawingml/2006/main">
              <a:ext uri="{FF2B5EF4-FFF2-40B4-BE49-F238E27FC236}">
                <a16:creationId xmlns:a16="http://schemas.microsoft.com/office/drawing/2014/main" id="{ED494495-C227-443E-8092-4F13EDF22FEC}"/>
              </a:ext>
            </a:extLst>
          </p:cNvPr>
          <p:cNvSpPr>
            <a:spLocks xmlns:a="http://schemas.openxmlformats.org/drawingml/2006/main" noGrp="1"/>
          </p:cNvSpPr>
          <p:nvPr/>
        </p:nvSpPr>
        <p:spPr>
          <a:xfrm xmlns:a="http://schemas.openxmlformats.org/drawingml/2006/main">
            <a:off x="723900" y="58293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83"/>
                </a:solidFill>
                <a:latin typeface="Noto Sans CJK KR"/>
                <a:ea typeface="Noto Sans CJK KR"/>
                <a:cs typeface="Noto Sans CJK KR"/>
              </a:defRPr>
            </a:defPPr>
          </a:lstStyle>
          <a:p xmlns:a="http://schemas.openxmlformats.org/drawingml/2006/main">
            <a:pPr>
              <a:defRPr sz="1800" b="1">
                <a:solidFill>
                  <a:srgbClr val="087E83"/>
                </a:solidFill>
                <a:latin typeface="Noto Sans CJK KR"/>
                <a:ea typeface="Noto Sans CJK KR"/>
                <a:cs typeface="Noto Sans CJK KR"/>
              </a:defRPr>
            </a:pPr>
            <a:r>
              <a:rPr sz="1800" b="1">
                <a:solidFill>
                  <a:srgbClr val="087E83"/>
                </a:solidFill>
                <a:latin typeface="Noto Sans CJK KR"/>
                <a:ea typeface="Noto Sans CJK KR"/>
                <a:cs typeface="Noto Sans CJK KR"/>
              </a:rPr>
              <a:t>그래프의 선은 문서 링크다. 인과관계나 사실 검증을 뜻하지 않는다.</a:t>
            </a:r>
          </a:p>
        </p:txBody>
      </p:sp>
    </p:spTree>
    <p:extLst>
      <p:ext uri="{BB962C8B-B14F-4D97-AF65-F5344CB8AC3E}">
        <p14:creationId xmlns:p14="http://schemas.microsoft.com/office/powerpoint/2010/main" val="476995930"/>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DCCA07-7E23-46EE-8918-1FEF33D830B0}"/>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세 가지 운영 작업</a:t>
            </a:r>
          </a:p>
        </p:txBody>
      </p:sp>
      <p:sp>
        <p:nvSpPr>
          <p:cNvPr id="2" name="">
            <a:extLst xmlns:a="http://schemas.openxmlformats.org/drawingml/2006/main">
              <a:ext uri="{FF2B5EF4-FFF2-40B4-BE49-F238E27FC236}">
                <a16:creationId xmlns:a16="http://schemas.microsoft.com/office/drawing/2014/main" id="{639ADC75-3F9B-4EC9-B3D1-4B830EE5C52B}"/>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08</a:t>
            </a:r>
          </a:p>
        </p:txBody>
      </p:sp>
      <p:sp>
        <p:nvSpPr>
          <p:cNvPr id="3" name="">
            <a:extLst xmlns:a="http://schemas.openxmlformats.org/drawingml/2006/main">
              <a:ext uri="{FF2B5EF4-FFF2-40B4-BE49-F238E27FC236}">
                <a16:creationId xmlns:a16="http://schemas.microsoft.com/office/drawing/2014/main" id="{ED4552E4-155D-4D9A-AE82-497DDA53C699}"/>
              </a:ext>
            </a:extLst>
          </p:cNvPr>
          <p:cNvSpPr>
            <a:spLocks xmlns:a="http://schemas.openxmlformats.org/drawingml/2006/main" noGrp="1"/>
          </p:cNvSpPr>
          <p:nvPr/>
        </p:nvSpPr>
        <p:spPr>
          <a:xfrm xmlns:a="http://schemas.openxmlformats.org/drawingml/2006/main">
            <a:off x="723900" y="1714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ingest  반영</a:t>
            </a:r>
          </a:p>
        </p:txBody>
      </p:sp>
      <p:sp>
        <p:nvSpPr>
          <p:cNvPr id="4" name="">
            <a:extLst xmlns:a="http://schemas.openxmlformats.org/drawingml/2006/main">
              <a:ext uri="{FF2B5EF4-FFF2-40B4-BE49-F238E27FC236}">
                <a16:creationId xmlns:a16="http://schemas.microsoft.com/office/drawing/2014/main" id="{B4F976DD-BFC0-4C41-9262-74EEA19BEF42}"/>
              </a:ext>
            </a:extLst>
          </p:cNvPr>
          <p:cNvSpPr>
            <a:spLocks xmlns:a="http://schemas.openxmlformats.org/drawingml/2006/main" noGrp="1"/>
          </p:cNvSpPr>
          <p:nvPr/>
        </p:nvSpPr>
        <p:spPr>
          <a:xfrm xmlns:a="http://schemas.openxmlformats.org/drawingml/2006/main">
            <a:off x="3095625" y="1714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새 원문을 읽고 관련 페이지에 변경안 작성</a:t>
            </a:r>
          </a:p>
        </p:txBody>
      </p:sp>
      <p:sp>
        <p:nvSpPr>
          <p:cNvPr id="5" name="">
            <a:extLst xmlns:a="http://schemas.openxmlformats.org/drawingml/2006/main">
              <a:ext uri="{FF2B5EF4-FFF2-40B4-BE49-F238E27FC236}">
                <a16:creationId xmlns:a16="http://schemas.microsoft.com/office/drawing/2014/main" id="{4F7C9FE8-F26C-4FAF-B6B5-728DEA9746DE}"/>
              </a:ext>
            </a:extLst>
          </p:cNvPr>
          <p:cNvSpPr>
            <a:spLocks xmlns:a="http://schemas.openxmlformats.org/drawingml/2006/main" noGrp="1"/>
          </p:cNvSpPr>
          <p:nvPr/>
        </p:nvSpPr>
        <p:spPr>
          <a:xfrm xmlns:a="http://schemas.openxmlformats.org/drawingml/2006/main">
            <a:off x="3095625" y="233362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기존 주장과 다른 점, 출처, 날짜를 함께 남긴다</a:t>
            </a:r>
          </a:p>
        </p:txBody>
      </p:sp>
      <p:sp>
        <p:nvSpPr>
          <p:cNvPr id="6" name="">
            <a:extLst xmlns:a="http://schemas.openxmlformats.org/drawingml/2006/main">
              <a:ext uri="{FF2B5EF4-FFF2-40B4-BE49-F238E27FC236}">
                <a16:creationId xmlns:a16="http://schemas.microsoft.com/office/drawing/2014/main" id="{3C7DF5A9-AE80-48CC-9BCF-12A7676D1B32}"/>
              </a:ext>
            </a:extLst>
          </p:cNvPr>
          <p:cNvSpPr>
            <a:spLocks xmlns:a="http://schemas.openxmlformats.org/drawingml/2006/main" noGrp="1"/>
          </p:cNvSpPr>
          <p:nvPr/>
        </p:nvSpPr>
        <p:spPr>
          <a:xfrm xmlns:a="http://schemas.openxmlformats.org/drawingml/2006/main">
            <a:off x="723900" y="3238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query  질의</a:t>
            </a:r>
          </a:p>
        </p:txBody>
      </p:sp>
      <p:sp>
        <p:nvSpPr>
          <p:cNvPr id="7" name="">
            <a:extLst xmlns:a="http://schemas.openxmlformats.org/drawingml/2006/main">
              <a:ext uri="{FF2B5EF4-FFF2-40B4-BE49-F238E27FC236}">
                <a16:creationId xmlns:a16="http://schemas.microsoft.com/office/drawing/2014/main" id="{04D73F5F-869D-4EB7-81CA-5C66B401AD0E}"/>
              </a:ext>
            </a:extLst>
          </p:cNvPr>
          <p:cNvSpPr>
            <a:spLocks xmlns:a="http://schemas.openxmlformats.org/drawingml/2006/main" noGrp="1"/>
          </p:cNvSpPr>
          <p:nvPr/>
        </p:nvSpPr>
        <p:spPr>
          <a:xfrm xmlns:a="http://schemas.openxmlformats.org/drawingml/2006/main">
            <a:off x="3095625" y="3238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위키와 원문을 검색해 근거 있는 답변 작성</a:t>
            </a:r>
          </a:p>
        </p:txBody>
      </p:sp>
      <p:sp>
        <p:nvSpPr>
          <p:cNvPr id="8" name="">
            <a:extLst xmlns:a="http://schemas.openxmlformats.org/drawingml/2006/main">
              <a:ext uri="{FF2B5EF4-FFF2-40B4-BE49-F238E27FC236}">
                <a16:creationId xmlns:a16="http://schemas.microsoft.com/office/drawing/2014/main" id="{DA2143CC-A984-45B8-845B-5490D4BBEC24}"/>
              </a:ext>
            </a:extLst>
          </p:cNvPr>
          <p:cNvSpPr>
            <a:spLocks xmlns:a="http://schemas.openxmlformats.org/drawingml/2006/main" noGrp="1"/>
          </p:cNvSpPr>
          <p:nvPr/>
        </p:nvSpPr>
        <p:spPr>
          <a:xfrm xmlns:a="http://schemas.openxmlformats.org/drawingml/2006/main">
            <a:off x="3095625" y="385762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답변의 기준일과 자료의 범위를 밝힌다</a:t>
            </a:r>
          </a:p>
        </p:txBody>
      </p:sp>
      <p:sp>
        <p:nvSpPr>
          <p:cNvPr id="9" name="">
            <a:extLst xmlns:a="http://schemas.openxmlformats.org/drawingml/2006/main">
              <a:ext uri="{FF2B5EF4-FFF2-40B4-BE49-F238E27FC236}">
                <a16:creationId xmlns:a16="http://schemas.microsoft.com/office/drawing/2014/main" id="{3E69A89B-1FC5-4A28-803A-5DD24B365D14}"/>
              </a:ext>
            </a:extLst>
          </p:cNvPr>
          <p:cNvSpPr>
            <a:spLocks xmlns:a="http://schemas.openxmlformats.org/drawingml/2006/main" noGrp="1"/>
          </p:cNvSpPr>
          <p:nvPr/>
        </p:nvSpPr>
        <p:spPr>
          <a:xfrm xmlns:a="http://schemas.openxmlformats.org/drawingml/2006/main">
            <a:off x="723900" y="4762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lint  점검</a:t>
            </a:r>
          </a:p>
        </p:txBody>
      </p:sp>
      <p:sp>
        <p:nvSpPr>
          <p:cNvPr id="10" name="">
            <a:extLst xmlns:a="http://schemas.openxmlformats.org/drawingml/2006/main">
              <a:ext uri="{FF2B5EF4-FFF2-40B4-BE49-F238E27FC236}">
                <a16:creationId xmlns:a16="http://schemas.microsoft.com/office/drawing/2014/main" id="{CC03FFF2-4DBE-4C63-AEDE-542B6D96CFA8}"/>
              </a:ext>
            </a:extLst>
          </p:cNvPr>
          <p:cNvSpPr>
            <a:spLocks xmlns:a="http://schemas.openxmlformats.org/drawingml/2006/main" noGrp="1"/>
          </p:cNvSpPr>
          <p:nvPr/>
        </p:nvSpPr>
        <p:spPr>
          <a:xfrm xmlns:a="http://schemas.openxmlformats.org/drawingml/2006/main">
            <a:off x="3095625" y="4762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모순·낡은 주장·고립된 페이지를 찾아 검토</a:t>
            </a:r>
          </a:p>
        </p:txBody>
      </p:sp>
      <p:sp>
        <p:nvSpPr>
          <p:cNvPr id="11" name="">
            <a:extLst xmlns:a="http://schemas.openxmlformats.org/drawingml/2006/main">
              <a:ext uri="{FF2B5EF4-FFF2-40B4-BE49-F238E27FC236}">
                <a16:creationId xmlns:a16="http://schemas.microsoft.com/office/drawing/2014/main" id="{839D5289-1459-470E-86EA-1D598D0EE137}"/>
              </a:ext>
            </a:extLst>
          </p:cNvPr>
          <p:cNvSpPr>
            <a:spLocks xmlns:a="http://schemas.openxmlformats.org/drawingml/2006/main" noGrp="1"/>
          </p:cNvSpPr>
          <p:nvPr/>
        </p:nvSpPr>
        <p:spPr>
          <a:xfrm xmlns:a="http://schemas.openxmlformats.org/drawingml/2006/main">
            <a:off x="3095625" y="538162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873"/>
                </a:solidFill>
                <a:latin typeface="Noto Sans CJK KR"/>
                <a:ea typeface="Noto Sans CJK KR"/>
                <a:cs typeface="Noto Sans CJK KR"/>
              </a:defRPr>
            </a:defPPr>
          </a:lstStyle>
          <a:p xmlns:a="http://schemas.openxmlformats.org/drawingml/2006/main">
            <a:pPr>
              <a:defRPr sz="1800" b="0">
                <a:solidFill>
                  <a:srgbClr val="516873"/>
                </a:solidFill>
                <a:latin typeface="Noto Sans CJK KR"/>
                <a:ea typeface="Noto Sans CJK KR"/>
                <a:cs typeface="Noto Sans CJK KR"/>
              </a:defRPr>
            </a:pPr>
            <a:r>
              <a:rPr sz="1800" b="0">
                <a:solidFill>
                  <a:srgbClr val="516873"/>
                </a:solidFill>
                <a:latin typeface="Noto Sans CJK KR"/>
                <a:ea typeface="Noto Sans CJK KR"/>
                <a:cs typeface="Noto Sans CJK KR"/>
              </a:rPr>
              <a:t>수정과 삭제는 정한 권한과 검토 규칙을 따른다</a:t>
            </a:r>
          </a:p>
        </p:txBody>
      </p:sp>
    </p:spTree>
    <p:extLst>
      <p:ext uri="{BB962C8B-B14F-4D97-AF65-F5344CB8AC3E}">
        <p14:creationId xmlns:p14="http://schemas.microsoft.com/office/powerpoint/2010/main" val="1951713987"/>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7E95F1-F0C2-4E0E-AC4F-D66DF8DB7211}"/>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가상 사례: 증권사 이익 전망 수정</a:t>
            </a:r>
          </a:p>
        </p:txBody>
      </p:sp>
      <p:sp>
        <p:nvSpPr>
          <p:cNvPr id="2" name="">
            <a:extLst xmlns:a="http://schemas.openxmlformats.org/drawingml/2006/main">
              <a:ext uri="{FF2B5EF4-FFF2-40B4-BE49-F238E27FC236}">
                <a16:creationId xmlns:a16="http://schemas.microsoft.com/office/drawing/2014/main" id="{CA97E891-41F0-4822-A759-45EEB23C2999}"/>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09</a:t>
            </a:r>
          </a:p>
        </p:txBody>
      </p:sp>
      <p:graphicFrame>
        <p:nvGraphicFramePr>
          <p:cNvPr id="3" name="">
            <a:extLst xmlns:a="http://schemas.openxmlformats.org/drawingml/2006/main">
              <a:ext uri="{FF2B5EF4-FFF2-40B4-BE49-F238E27FC236}">
                <a16:creationId xmlns:a16="http://schemas.microsoft.com/office/drawing/2014/main" id="{05B383EB-8465-4CD9-935A-C9B863804AA3}"/>
              </a:ext>
            </a:extLst>
          </p:cNvPr>
          <p:cNvGraphicFramePr/>
          <p:nvPr/>
        </p:nvGraphicFramePr>
        <p:xfrm>
          <a:off xmlns:a="http://schemas.openxmlformats.org/drawingml/2006/main" x="685800" y="1809750"/>
          <a:ext xmlns:a="http://schemas.openxmlformats.org/drawingml/2006/main" cx="10820400" cy="3143250"/>
        </p:xfrm>
        <a:graphic xmlns:a="http://schemas.openxmlformats.org/drawingml/2006/main">
          <a:graphicData uri="http://schemas.openxmlformats.org/drawingml/2006/table">
            <a:tbl>
              <a:tblPr/>
              <a:tblGrid>
                <a:gridCol w="2143125"/>
                <a:gridCol w="1905000"/>
                <a:gridCol w="3000375"/>
                <a:gridCol w="3771900"/>
              </a:tblGrid>
              <a:tr h="785813">
                <a:tc>
                  <a:txBody>
                    <a:bodyPr/>
                    <a:lstStyle/>
                    <a:p>
                      <a:r>
                        <a:rPr sz="1800" b="1">
                          <a:solidFill>
                            <a:srgbClr val="FFFFFF"/>
                          </a:solidFill>
                          <a:latin typeface="Noto Sans CJK KR"/>
                          <a:ea typeface="Noto Sans CJK KR"/>
                          <a:cs typeface="Noto Sans CJK KR"/>
                        </a:rPr>
                        <a:t>자료</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발행일</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2027년 EPS 전망</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이유</a:t>
                      </a:r>
                    </a:p>
                  </a:txBody>
                  <a:tcPr marL="91440" marR="91440" marT="45720" marB="45720">
                    <a:solidFill>
                      <a:srgbClr val="112C3E"/>
                    </a:solidFill>
                  </a:tcPr>
                </a:tc>
              </a:tr>
              <a:tr h="785813">
                <a:tc>
                  <a:txBody>
                    <a:bodyPr/>
                    <a:lstStyle/>
                    <a:p>
                      <a:r>
                        <a:rPr sz="1875" b="0">
                          <a:solidFill>
                            <a:srgbClr val="193344"/>
                          </a:solidFill>
                          <a:latin typeface="Noto Sans CJK KR"/>
                          <a:ea typeface="Noto Sans CJK KR"/>
                          <a:cs typeface="Noto Sans CJK KR"/>
                        </a:rPr>
                        <a:t>A증권 v1</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9월 1일</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5,000원</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기존 수요 가정</a:t>
                      </a:r>
                    </a:p>
                  </a:txBody>
                  <a:tcPr marL="91440" marR="91440" marT="45720" marB="45720">
                    <a:solidFill>
                      <a:srgbClr val="FFFFFF"/>
                    </a:solidFill>
                  </a:tcPr>
                </a:tc>
              </a:tr>
              <a:tr h="785813">
                <a:tc>
                  <a:txBody>
                    <a:bodyPr/>
                    <a:lstStyle/>
                    <a:p>
                      <a:r>
                        <a:rPr sz="1875" b="0">
                          <a:solidFill>
                            <a:srgbClr val="193344"/>
                          </a:solidFill>
                          <a:latin typeface="Noto Sans CJK KR"/>
                          <a:ea typeface="Noto Sans CJK KR"/>
                          <a:cs typeface="Noto Sans CJK KR"/>
                        </a:rPr>
                        <a:t>A증권 v2</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9월 15일</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4,500원</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수요 전망 하향</a:t>
                      </a:r>
                    </a:p>
                  </a:txBody>
                  <a:tcPr marL="91440" marR="91440" marT="45720" marB="45720">
                    <a:solidFill>
                      <a:srgbClr val="E5EFED"/>
                    </a:solidFill>
                  </a:tcPr>
                </a:tc>
              </a:tr>
              <a:tr h="785813">
                <a:tc>
                  <a:txBody>
                    <a:bodyPr/>
                    <a:lstStyle/>
                    <a:p>
                      <a:r>
                        <a:rPr sz="1875" b="0">
                          <a:solidFill>
                            <a:srgbClr val="193344"/>
                          </a:solidFill>
                          <a:latin typeface="Noto Sans CJK KR"/>
                          <a:ea typeface="Noto Sans CJK KR"/>
                          <a:cs typeface="Noto Sans CJK KR"/>
                        </a:rPr>
                        <a:t>B증권</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9월 16일</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5,200원</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마진 개선 예상</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40F681A-86D4-4E25-9BDB-AFDF093F6A10}"/>
              </a:ext>
            </a:extLst>
          </p:cNvPr>
          <p:cNvSpPr>
            <a:spLocks xmlns:a="http://schemas.openxmlformats.org/drawingml/2006/main" noGrp="1"/>
          </p:cNvSpPr>
          <p:nvPr/>
        </p:nvSpPr>
        <p:spPr>
          <a:xfrm xmlns:a="http://schemas.openxmlformats.org/drawingml/2006/main">
            <a:off x="723900" y="5238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3"/>
                </a:solidFill>
                <a:latin typeface="Noto Sans CJK KR"/>
                <a:ea typeface="Noto Sans CJK KR"/>
                <a:cs typeface="Noto Sans CJK KR"/>
              </a:defRPr>
            </a:defPPr>
          </a:lstStyle>
          <a:p xmlns:a="http://schemas.openxmlformats.org/drawingml/2006/main">
            <a:pPr>
              <a:defRPr sz="2250" b="1">
                <a:solidFill>
                  <a:srgbClr val="087E83"/>
                </a:solidFill>
                <a:latin typeface="Noto Sans CJK KR"/>
                <a:ea typeface="Noto Sans CJK KR"/>
                <a:cs typeface="Noto Sans CJK KR"/>
              </a:defRPr>
            </a:pPr>
            <a:r>
              <a:rPr sz="2250" b="1">
                <a:solidFill>
                  <a:srgbClr val="087E83"/>
                </a:solidFill>
                <a:latin typeface="Noto Sans CJK KR"/>
                <a:ea typeface="Noto Sans CJK KR"/>
                <a:cs typeface="Noto Sans CJK KR"/>
              </a:rPr>
              <a:t>같은 기관의 수정: 5,000원 → 4,500원  (−10%)</a:t>
            </a:r>
          </a:p>
        </p:txBody>
      </p:sp>
      <p:sp>
        <p:nvSpPr>
          <p:cNvPr id="5" name="">
            <a:extLst xmlns:a="http://schemas.openxmlformats.org/drawingml/2006/main">
              <a:ext uri="{FF2B5EF4-FFF2-40B4-BE49-F238E27FC236}">
                <a16:creationId xmlns:a16="http://schemas.microsoft.com/office/drawing/2014/main" id="{E28FA672-A809-4410-B251-82BAC51AC60C}"/>
              </a:ext>
            </a:extLst>
          </p:cNvPr>
          <p:cNvSpPr>
            <a:spLocks xmlns:a="http://schemas.openxmlformats.org/drawingml/2006/main" noGrp="1"/>
          </p:cNvSpPr>
          <p:nvPr/>
        </p:nvSpPr>
        <p:spPr>
          <a:xfrm xmlns:a="http://schemas.openxmlformats.org/drawingml/2006/main">
            <a:off x="723900" y="58769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16873"/>
                </a:solidFill>
                <a:latin typeface="Noto Sans CJK KR"/>
                <a:ea typeface="Noto Sans CJK KR"/>
                <a:cs typeface="Noto Sans CJK KR"/>
              </a:defRPr>
            </a:defPPr>
          </a:lstStyle>
          <a:p xmlns:a="http://schemas.openxmlformats.org/drawingml/2006/main">
            <a:pPr>
              <a:defRPr sz="1575" b="0">
                <a:solidFill>
                  <a:srgbClr val="516873"/>
                </a:solidFill>
                <a:latin typeface="Noto Sans CJK KR"/>
                <a:ea typeface="Noto Sans CJK KR"/>
                <a:cs typeface="Noto Sans CJK KR"/>
              </a:defRPr>
            </a:pPr>
            <a:r>
              <a:rPr sz="1575" b="0">
                <a:solidFill>
                  <a:srgbClr val="516873"/>
                </a:solidFill>
                <a:latin typeface="Noto Sans CJK KR"/>
                <a:ea typeface="Noto Sans CJK KR"/>
                <a:cs typeface="Noto Sans CJK KR"/>
              </a:rPr>
              <a:t>수업용 가상 자료. 실제 기업·증권사 보고서나 투자 권고가 아니다.</a:t>
            </a:r>
          </a:p>
        </p:txBody>
      </p:sp>
    </p:spTree>
    <p:extLst>
      <p:ext uri="{BB962C8B-B14F-4D97-AF65-F5344CB8AC3E}">
        <p14:creationId xmlns:p14="http://schemas.microsoft.com/office/powerpoint/2010/main" val="1561406825"/>
      </p:ext>
    </p:extLst>
  </p:cSld>
</p:sld>
</file>

<file path=ppt/slides/slide1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F7C63E-4774-43BD-9DBB-769B28DFD3B0}"/>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기억에는 현재 값과 변경 이유가 함께 남는다</a:t>
            </a:r>
          </a:p>
        </p:txBody>
      </p:sp>
      <p:sp>
        <p:nvSpPr>
          <p:cNvPr id="2" name="">
            <a:extLst xmlns:a="http://schemas.openxmlformats.org/drawingml/2006/main">
              <a:ext uri="{FF2B5EF4-FFF2-40B4-BE49-F238E27FC236}">
                <a16:creationId xmlns:a16="http://schemas.microsoft.com/office/drawing/2014/main" id="{1959A529-04E6-4602-AA2B-00956D7AD75C}"/>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10</a:t>
            </a:r>
          </a:p>
        </p:txBody>
      </p:sp>
      <p:sp>
        <p:nvSpPr>
          <p:cNvPr id="3" name="">
            <a:extLst xmlns:a="http://schemas.openxmlformats.org/drawingml/2006/main">
              <a:ext uri="{FF2B5EF4-FFF2-40B4-BE49-F238E27FC236}">
                <a16:creationId xmlns:a16="http://schemas.microsoft.com/office/drawing/2014/main" id="{4DC7820C-6064-43B8-AA93-55C7E9101833}"/>
              </a:ext>
            </a:extLst>
          </p:cNvPr>
          <p:cNvSpPr>
            <a:spLocks xmlns:a="http://schemas.openxmlformats.org/drawingml/2006/main" noGrp="1"/>
          </p:cNvSpPr>
          <p:nvPr/>
        </p:nvSpPr>
        <p:spPr>
          <a:xfrm xmlns:a="http://schemas.openxmlformats.org/drawingml/2006/main">
            <a:off x="723900" y="1619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현재 주장</a:t>
            </a:r>
          </a:p>
        </p:txBody>
      </p:sp>
      <p:sp>
        <p:nvSpPr>
          <p:cNvPr id="4" name="">
            <a:extLst xmlns:a="http://schemas.openxmlformats.org/drawingml/2006/main">
              <a:ext uri="{FF2B5EF4-FFF2-40B4-BE49-F238E27FC236}">
                <a16:creationId xmlns:a16="http://schemas.microsoft.com/office/drawing/2014/main" id="{FC9DCFD8-1ADE-4DA4-A226-9F9F00FCC4DC}"/>
              </a:ext>
            </a:extLst>
          </p:cNvPr>
          <p:cNvSpPr>
            <a:spLocks xmlns:a="http://schemas.openxmlformats.org/drawingml/2006/main" noGrp="1"/>
          </p:cNvSpPr>
          <p:nvPr/>
        </p:nvSpPr>
        <p:spPr>
          <a:xfrm xmlns:a="http://schemas.openxmlformats.org/drawingml/2006/main">
            <a:off x="3095625" y="1619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A증권의 2027년 EPS 전망은 4,500원</a:t>
            </a:r>
          </a:p>
        </p:txBody>
      </p:sp>
      <p:sp>
        <p:nvSpPr>
          <p:cNvPr id="5" name="">
            <a:extLst xmlns:a="http://schemas.openxmlformats.org/drawingml/2006/main">
              <a:ext uri="{FF2B5EF4-FFF2-40B4-BE49-F238E27FC236}">
                <a16:creationId xmlns:a16="http://schemas.microsoft.com/office/drawing/2014/main" id="{F25C4D28-F46D-447A-834B-38FD66CC74B3}"/>
              </a:ext>
            </a:extLst>
          </p:cNvPr>
          <p:cNvSpPr>
            <a:spLocks xmlns:a="http://schemas.openxmlformats.org/drawingml/2006/main" noGrp="1"/>
          </p:cNvSpPr>
          <p:nvPr/>
        </p:nvSpPr>
        <p:spPr>
          <a:xfrm xmlns:a="http://schemas.openxmlformats.org/drawingml/2006/main">
            <a:off x="723900" y="2571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근거와 시점</a:t>
            </a:r>
          </a:p>
        </p:txBody>
      </p:sp>
      <p:sp>
        <p:nvSpPr>
          <p:cNvPr id="6" name="">
            <a:extLst xmlns:a="http://schemas.openxmlformats.org/drawingml/2006/main">
              <a:ext uri="{FF2B5EF4-FFF2-40B4-BE49-F238E27FC236}">
                <a16:creationId xmlns:a16="http://schemas.microsoft.com/office/drawing/2014/main" id="{BE4A2026-F991-4D5B-81D7-A1ECDF19F4FF}"/>
              </a:ext>
            </a:extLst>
          </p:cNvPr>
          <p:cNvSpPr>
            <a:spLocks xmlns:a="http://schemas.openxmlformats.org/drawingml/2006/main" noGrp="1"/>
          </p:cNvSpPr>
          <p:nvPr/>
        </p:nvSpPr>
        <p:spPr>
          <a:xfrm xmlns:a="http://schemas.openxmlformats.org/drawingml/2006/main">
            <a:off x="3095625" y="2571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A증권 v2, 9월 15일, p.7 추정표</a:t>
            </a:r>
          </a:p>
        </p:txBody>
      </p:sp>
      <p:sp>
        <p:nvSpPr>
          <p:cNvPr id="7" name="">
            <a:extLst xmlns:a="http://schemas.openxmlformats.org/drawingml/2006/main">
              <a:ext uri="{FF2B5EF4-FFF2-40B4-BE49-F238E27FC236}">
                <a16:creationId xmlns:a16="http://schemas.microsoft.com/office/drawing/2014/main" id="{5E524797-BF25-4BF9-BB0D-6BFE91A86610}"/>
              </a:ext>
            </a:extLst>
          </p:cNvPr>
          <p:cNvSpPr>
            <a:spLocks xmlns:a="http://schemas.openxmlformats.org/drawingml/2006/main" noGrp="1"/>
          </p:cNvSpPr>
          <p:nvPr/>
        </p:nvSpPr>
        <p:spPr>
          <a:xfrm xmlns:a="http://schemas.openxmlformats.org/drawingml/2006/main">
            <a:off x="723900" y="3524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변경 이력</a:t>
            </a:r>
          </a:p>
        </p:txBody>
      </p:sp>
      <p:sp>
        <p:nvSpPr>
          <p:cNvPr id="8" name="">
            <a:extLst xmlns:a="http://schemas.openxmlformats.org/drawingml/2006/main">
              <a:ext uri="{FF2B5EF4-FFF2-40B4-BE49-F238E27FC236}">
                <a16:creationId xmlns:a16="http://schemas.microsoft.com/office/drawing/2014/main" id="{7A490845-5CA7-4CE6-97B5-9AE5E4A0E5DA}"/>
              </a:ext>
            </a:extLst>
          </p:cNvPr>
          <p:cNvSpPr>
            <a:spLocks xmlns:a="http://schemas.openxmlformats.org/drawingml/2006/main" noGrp="1"/>
          </p:cNvSpPr>
          <p:nvPr/>
        </p:nvSpPr>
        <p:spPr>
          <a:xfrm xmlns:a="http://schemas.openxmlformats.org/drawingml/2006/main">
            <a:off x="3095625" y="3524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v1 5,000원을 대체. 수요 가정 하향</a:t>
            </a:r>
          </a:p>
        </p:txBody>
      </p:sp>
      <p:sp>
        <p:nvSpPr>
          <p:cNvPr id="9" name="">
            <a:extLst xmlns:a="http://schemas.openxmlformats.org/drawingml/2006/main">
              <a:ext uri="{FF2B5EF4-FFF2-40B4-BE49-F238E27FC236}">
                <a16:creationId xmlns:a16="http://schemas.microsoft.com/office/drawing/2014/main" id="{D7652997-9336-47AA-9DC3-7E0878E6676B}"/>
              </a:ext>
            </a:extLst>
          </p:cNvPr>
          <p:cNvSpPr>
            <a:spLocks xmlns:a="http://schemas.openxmlformats.org/drawingml/2006/main" noGrp="1"/>
          </p:cNvSpPr>
          <p:nvPr/>
        </p:nvSpPr>
        <p:spPr>
          <a:xfrm xmlns:a="http://schemas.openxmlformats.org/drawingml/2006/main">
            <a:off x="723900" y="4476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견해 차이</a:t>
            </a:r>
          </a:p>
        </p:txBody>
      </p:sp>
      <p:sp>
        <p:nvSpPr>
          <p:cNvPr id="10" name="">
            <a:extLst xmlns:a="http://schemas.openxmlformats.org/drawingml/2006/main">
              <a:ext uri="{FF2B5EF4-FFF2-40B4-BE49-F238E27FC236}">
                <a16:creationId xmlns:a16="http://schemas.microsoft.com/office/drawing/2014/main" id="{E5CE4804-D59B-4322-B090-B5A78BC2F334}"/>
              </a:ext>
            </a:extLst>
          </p:cNvPr>
          <p:cNvSpPr>
            <a:spLocks xmlns:a="http://schemas.openxmlformats.org/drawingml/2006/main" noGrp="1"/>
          </p:cNvSpPr>
          <p:nvPr/>
        </p:nvSpPr>
        <p:spPr>
          <a:xfrm xmlns:a="http://schemas.openxmlformats.org/drawingml/2006/main">
            <a:off x="3095625" y="4476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B증권은 5,200원. 가정 차이를 별도 기록</a:t>
            </a:r>
          </a:p>
        </p:txBody>
      </p:sp>
      <p:sp>
        <p:nvSpPr>
          <p:cNvPr id="11" name="">
            <a:extLst xmlns:a="http://schemas.openxmlformats.org/drawingml/2006/main">
              <a:ext uri="{FF2B5EF4-FFF2-40B4-BE49-F238E27FC236}">
                <a16:creationId xmlns:a16="http://schemas.microsoft.com/office/drawing/2014/main" id="{84952E54-041A-4555-88CC-88D072ACDEF8}"/>
              </a:ext>
            </a:extLst>
          </p:cNvPr>
          <p:cNvSpPr>
            <a:spLocks xmlns:a="http://schemas.openxmlformats.org/drawingml/2006/main" noGrp="1"/>
          </p:cNvSpPr>
          <p:nvPr/>
        </p:nvSpPr>
        <p:spPr>
          <a:xfrm xmlns:a="http://schemas.openxmlformats.org/drawingml/2006/main">
            <a:off x="723900" y="5667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E83"/>
                </a:solidFill>
                <a:latin typeface="Noto Sans CJK KR"/>
                <a:ea typeface="Noto Sans CJK KR"/>
                <a:cs typeface="Noto Sans CJK KR"/>
              </a:defRPr>
            </a:defPPr>
          </a:lstStyle>
          <a:p xmlns:a="http://schemas.openxmlformats.org/drawingml/2006/main">
            <a:pPr>
              <a:defRPr sz="1875" b="1">
                <a:solidFill>
                  <a:srgbClr val="087E83"/>
                </a:solidFill>
                <a:latin typeface="Noto Sans CJK KR"/>
                <a:ea typeface="Noto Sans CJK KR"/>
                <a:cs typeface="Noto Sans CJK KR"/>
              </a:defRPr>
            </a:pPr>
            <a:r>
              <a:rPr sz="1875" b="1">
                <a:solidFill>
                  <a:srgbClr val="087E83"/>
                </a:solidFill>
                <a:latin typeface="Noto Sans CJK KR"/>
                <a:ea typeface="Noto Sans CJK KR"/>
                <a:cs typeface="Noto Sans CJK KR"/>
              </a:rPr>
              <a:t>유형: 전망     상태: 원문 대조 완료     검토자: 담당자</a:t>
            </a:r>
          </a:p>
        </p:txBody>
      </p:sp>
    </p:spTree>
    <p:extLst>
      <p:ext uri="{BB962C8B-B14F-4D97-AF65-F5344CB8AC3E}">
        <p14:creationId xmlns:p14="http://schemas.microsoft.com/office/powerpoint/2010/main" val="194692933"/>
      </p:ext>
    </p:extLst>
  </p:cSld>
</p:sld>
</file>

<file path=ppt/slides/slide1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6C8482-7590-4A5F-AFB1-7782DFB0F59D}"/>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같은 질문에 더 나은 답을 만드는 조건</a:t>
            </a:r>
          </a:p>
        </p:txBody>
      </p:sp>
      <p:sp>
        <p:nvSpPr>
          <p:cNvPr id="2" name="">
            <a:extLst xmlns:a="http://schemas.openxmlformats.org/drawingml/2006/main">
              <a:ext uri="{FF2B5EF4-FFF2-40B4-BE49-F238E27FC236}">
                <a16:creationId xmlns:a16="http://schemas.microsoft.com/office/drawing/2014/main" id="{20BF28DB-4CB6-42E1-AA2C-37B703D9CD2D}"/>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11</a:t>
            </a:r>
          </a:p>
        </p:txBody>
      </p:sp>
      <p:sp>
        <p:nvSpPr>
          <p:cNvPr id="3" name="">
            <a:extLst xmlns:a="http://schemas.openxmlformats.org/drawingml/2006/main">
              <a:ext uri="{FF2B5EF4-FFF2-40B4-BE49-F238E27FC236}">
                <a16:creationId xmlns:a16="http://schemas.microsoft.com/office/drawing/2014/main" id="{73E70188-A470-4DBA-8A8B-460C82275824}"/>
              </a:ext>
            </a:extLst>
          </p:cNvPr>
          <p:cNvSpPr>
            <a:spLocks xmlns:a="http://schemas.openxmlformats.org/drawingml/2006/main" noGrp="1"/>
          </p:cNvSpPr>
          <p:nvPr/>
        </p:nvSpPr>
        <p:spPr>
          <a:xfrm xmlns:a="http://schemas.openxmlformats.org/drawingml/2006/main">
            <a:off x="723900" y="1666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12C3E"/>
                </a:solidFill>
                <a:latin typeface="Noto Sans CJK KR"/>
                <a:ea typeface="Noto Sans CJK KR"/>
                <a:cs typeface="Noto Sans CJK KR"/>
              </a:defRPr>
            </a:defPPr>
          </a:lstStyle>
          <a:p xmlns:a="http://schemas.openxmlformats.org/drawingml/2006/main">
            <a:pPr>
              <a:defRPr sz="2850" b="1">
                <a:solidFill>
                  <a:srgbClr val="112C3E"/>
                </a:solidFill>
                <a:latin typeface="Noto Sans CJK KR"/>
                <a:ea typeface="Noto Sans CJK KR"/>
                <a:cs typeface="Noto Sans CJK KR"/>
              </a:defRPr>
            </a:pPr>
            <a:r>
              <a:rPr sz="2850" b="1">
                <a:solidFill>
                  <a:srgbClr val="112C3E"/>
                </a:solidFill>
                <a:latin typeface="Noto Sans CJK KR"/>
                <a:ea typeface="Noto Sans CJK KR"/>
                <a:cs typeface="Noto Sans CJK KR"/>
              </a:rPr>
              <a:t>“현재 2027년 EPS 전망은?”</a:t>
            </a:r>
          </a:p>
        </p:txBody>
      </p:sp>
      <p:sp>
        <p:nvSpPr>
          <p:cNvPr id="4" name="">
            <a:extLst xmlns:a="http://schemas.openxmlformats.org/drawingml/2006/main">
              <a:ext uri="{FF2B5EF4-FFF2-40B4-BE49-F238E27FC236}">
                <a16:creationId xmlns:a16="http://schemas.microsoft.com/office/drawing/2014/main" id="{DF553EC8-EDAD-40E8-9648-2150F8DF4305}"/>
              </a:ext>
            </a:extLst>
          </p:cNvPr>
          <p:cNvSpPr>
            <a:spLocks xmlns:a="http://schemas.openxmlformats.org/drawingml/2006/main" noGrp="1"/>
          </p:cNvSpPr>
          <p:nvPr/>
        </p:nvSpPr>
        <p:spPr>
          <a:xfrm xmlns:a="http://schemas.openxmlformats.org/drawingml/2006/main">
            <a:off x="723900" y="27622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93344"/>
                </a:solidFill>
                <a:latin typeface="Noto Sans CJK KR"/>
                <a:ea typeface="Noto Sans CJK KR"/>
                <a:cs typeface="Noto Sans CJK KR"/>
              </a:defRPr>
            </a:defPPr>
          </a:lstStyle>
          <a:p xmlns:a="http://schemas.openxmlformats.org/drawingml/2006/main">
            <a:pPr>
              <a:defRPr sz="2475" b="0">
                <a:solidFill>
                  <a:srgbClr val="193344"/>
                </a:solidFill>
                <a:latin typeface="Noto Sans CJK KR"/>
                <a:ea typeface="Noto Sans CJK KR"/>
                <a:cs typeface="Noto Sans CJK KR"/>
              </a:defRPr>
            </a:pPr>
            <a:r>
              <a:rPr sz="2475" b="0">
                <a:solidFill>
                  <a:srgbClr val="193344"/>
                </a:solidFill>
                <a:latin typeface="Noto Sans CJK KR"/>
                <a:ea typeface="Noto Sans CJK KR"/>
                <a:cs typeface="Noto Sans CJK KR"/>
              </a:rPr>
              <a:t>9월 16일 기준, A증권의 최신 전망은 4,500원입니다.</a:t>
            </a:r>
          </a:p>
          <a:p xmlns:a="http://schemas.openxmlformats.org/drawingml/2006/main">
            <a:pPr>
              <a:defRPr sz="2475" b="0">
                <a:solidFill>
                  <a:srgbClr val="193344"/>
                </a:solidFill>
                <a:latin typeface="Noto Sans CJK KR"/>
                <a:ea typeface="Noto Sans CJK KR"/>
                <a:cs typeface="Noto Sans CJK KR"/>
              </a:defRPr>
            </a:pPr>
            <a:r>
              <a:rPr sz="2475" b="0">
                <a:solidFill>
                  <a:srgbClr val="193344"/>
                </a:solidFill>
                <a:latin typeface="Noto Sans CJK KR"/>
                <a:ea typeface="Noto Sans CJK KR"/>
                <a:cs typeface="Noto Sans CJK KR"/>
              </a:rPr>
              <a:t>9월 1일 전망 5,000원을 10% 낮췄습니다.</a:t>
            </a:r>
          </a:p>
          <a:p xmlns:a="http://schemas.openxmlformats.org/drawingml/2006/main">
            <a:pPr>
              <a:defRPr sz="2475" b="0">
                <a:solidFill>
                  <a:srgbClr val="193344"/>
                </a:solidFill>
                <a:latin typeface="Noto Sans CJK KR"/>
                <a:ea typeface="Noto Sans CJK KR"/>
                <a:cs typeface="Noto Sans CJK KR"/>
              </a:defRPr>
            </a:pPr>
            <a:r>
              <a:rPr sz="2475" b="0">
                <a:solidFill>
                  <a:srgbClr val="193344"/>
                </a:solidFill>
                <a:latin typeface="Noto Sans CJK KR"/>
                <a:ea typeface="Noto Sans CJK KR"/>
                <a:cs typeface="Noto Sans CJK KR"/>
              </a:rPr>
              <a:t>B증권의 전망은 5,200원으로, 마진 가정이 다릅니다.</a:t>
            </a:r>
          </a:p>
        </p:txBody>
      </p:sp>
      <p:sp>
        <p:nvSpPr>
          <p:cNvPr id="5" name="">
            <a:extLst xmlns:a="http://schemas.openxmlformats.org/drawingml/2006/main">
              <a:ext uri="{FF2B5EF4-FFF2-40B4-BE49-F238E27FC236}">
                <a16:creationId xmlns:a16="http://schemas.microsoft.com/office/drawing/2014/main" id="{9B7128F4-3831-418A-89E2-D51AA7786A36}"/>
              </a:ext>
            </a:extLst>
          </p:cNvPr>
          <p:cNvSpPr>
            <a:spLocks xmlns:a="http://schemas.openxmlformats.org/drawingml/2006/main" noGrp="1"/>
          </p:cNvSpPr>
          <p:nvPr/>
        </p:nvSpPr>
        <p:spPr>
          <a:xfrm xmlns:a="http://schemas.openxmlformats.org/drawingml/2006/main">
            <a:off x="723900" y="50958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E83"/>
                </a:solidFill>
                <a:latin typeface="Noto Sans CJK KR"/>
                <a:ea typeface="Noto Sans CJK KR"/>
                <a:cs typeface="Noto Sans CJK KR"/>
              </a:defRPr>
            </a:defPPr>
          </a:lstStyle>
          <a:p xmlns:a="http://schemas.openxmlformats.org/drawingml/2006/main">
            <a:pPr>
              <a:defRPr sz="1950" b="1">
                <a:solidFill>
                  <a:srgbClr val="087E83"/>
                </a:solidFill>
                <a:latin typeface="Noto Sans CJK KR"/>
                <a:ea typeface="Noto Sans CJK KR"/>
                <a:cs typeface="Noto Sans CJK KR"/>
              </a:defRPr>
            </a:pPr>
            <a:r>
              <a:rPr sz="1950" b="1">
                <a:solidFill>
                  <a:srgbClr val="087E83"/>
                </a:solidFill>
                <a:latin typeface="Noto Sans CJK KR"/>
                <a:ea typeface="Noto Sans CJK KR"/>
                <a:cs typeface="Noto Sans CJK KR"/>
              </a:rPr>
              <a:t>답변에 필요한 것</a:t>
            </a:r>
          </a:p>
        </p:txBody>
      </p:sp>
      <p:sp>
        <p:nvSpPr>
          <p:cNvPr id="6" name="">
            <a:extLst xmlns:a="http://schemas.openxmlformats.org/drawingml/2006/main">
              <a:ext uri="{FF2B5EF4-FFF2-40B4-BE49-F238E27FC236}">
                <a16:creationId xmlns:a16="http://schemas.microsoft.com/office/drawing/2014/main" id="{48F58AAD-2022-4A3F-9408-F06D2A4F97D0}"/>
              </a:ext>
            </a:extLst>
          </p:cNvPr>
          <p:cNvSpPr>
            <a:spLocks xmlns:a="http://schemas.openxmlformats.org/drawingml/2006/main" noGrp="1"/>
          </p:cNvSpPr>
          <p:nvPr/>
        </p:nvSpPr>
        <p:spPr>
          <a:xfrm xmlns:a="http://schemas.openxmlformats.org/drawingml/2006/main">
            <a:off x="7239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344"/>
                </a:solidFill>
                <a:latin typeface="Noto Sans CJK KR"/>
                <a:ea typeface="Noto Sans CJK KR"/>
                <a:cs typeface="Noto Sans CJK KR"/>
              </a:defRPr>
            </a:defPPr>
          </a:lstStyle>
          <a:p xmlns:a="http://schemas.openxmlformats.org/drawingml/2006/main">
            <a:pPr>
              <a:defRPr sz="1950" b="0">
                <a:solidFill>
                  <a:srgbClr val="193344"/>
                </a:solidFill>
                <a:latin typeface="Noto Sans CJK KR"/>
                <a:ea typeface="Noto Sans CJK KR"/>
                <a:cs typeface="Noto Sans CJK KR"/>
              </a:defRPr>
            </a:pPr>
            <a:r>
              <a:rPr sz="1950" b="0">
                <a:solidFill>
                  <a:srgbClr val="193344"/>
                </a:solidFill>
                <a:latin typeface="Noto Sans CJK KR"/>
                <a:ea typeface="Noto Sans CJK KR"/>
                <a:cs typeface="Noto Sans CJK KR"/>
              </a:rPr>
              <a:t>기준일  /  작성기관  /  원문 인용  /  수정과 견해 차이의 구분</a:t>
            </a:r>
          </a:p>
        </p:txBody>
      </p:sp>
    </p:spTree>
    <p:extLst>
      <p:ext uri="{BB962C8B-B14F-4D97-AF65-F5344CB8AC3E}">
        <p14:creationId xmlns:p14="http://schemas.microsoft.com/office/powerpoint/2010/main" val="1582499088"/>
      </p:ext>
    </p:extLst>
  </p:cSld>
</p:sld>
</file>

<file path=ppt/slides/slide1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8724A7-C763-4506-830B-613D6D1C44ED}"/>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갱신 규칙과 사람의 승인</a:t>
            </a:r>
          </a:p>
        </p:txBody>
      </p:sp>
      <p:sp>
        <p:nvSpPr>
          <p:cNvPr id="2" name="">
            <a:extLst xmlns:a="http://schemas.openxmlformats.org/drawingml/2006/main">
              <a:ext uri="{FF2B5EF4-FFF2-40B4-BE49-F238E27FC236}">
                <a16:creationId xmlns:a16="http://schemas.microsoft.com/office/drawing/2014/main" id="{478D22CA-55B8-4C5E-86B5-389D82C069FF}"/>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12</a:t>
            </a:r>
          </a:p>
        </p:txBody>
      </p:sp>
      <p:sp>
        <p:nvSpPr>
          <p:cNvPr id="3" name="">
            <a:extLst xmlns:a="http://schemas.openxmlformats.org/drawingml/2006/main">
              <a:ext uri="{FF2B5EF4-FFF2-40B4-BE49-F238E27FC236}">
                <a16:creationId xmlns:a16="http://schemas.microsoft.com/office/drawing/2014/main" id="{F1393FFD-D2BE-4A22-BAC8-E11AC2A4A5AE}"/>
              </a:ext>
            </a:extLst>
          </p:cNvPr>
          <p:cNvSpPr>
            <a:spLocks xmlns:a="http://schemas.openxmlformats.org/drawingml/2006/main" noGrp="1"/>
          </p:cNvSpPr>
          <p:nvPr/>
        </p:nvSpPr>
        <p:spPr>
          <a:xfrm xmlns:a="http://schemas.openxmlformats.org/drawingml/2006/main">
            <a:off x="723900" y="1619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보존</a:t>
            </a:r>
          </a:p>
        </p:txBody>
      </p:sp>
      <p:sp>
        <p:nvSpPr>
          <p:cNvPr id="4" name="">
            <a:extLst xmlns:a="http://schemas.openxmlformats.org/drawingml/2006/main">
              <a:ext uri="{FF2B5EF4-FFF2-40B4-BE49-F238E27FC236}">
                <a16:creationId xmlns:a16="http://schemas.microsoft.com/office/drawing/2014/main" id="{01D844BA-201D-4279-9838-DA3C7A714442}"/>
              </a:ext>
            </a:extLst>
          </p:cNvPr>
          <p:cNvSpPr>
            <a:spLocks xmlns:a="http://schemas.openxmlformats.org/drawingml/2006/main" noGrp="1"/>
          </p:cNvSpPr>
          <p:nvPr/>
        </p:nvSpPr>
        <p:spPr>
          <a:xfrm xmlns:a="http://schemas.openxmlformats.org/drawingml/2006/main">
            <a:off x="3095625" y="1619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원본과 수정본을 함께 저장</a:t>
            </a:r>
          </a:p>
        </p:txBody>
      </p:sp>
      <p:sp>
        <p:nvSpPr>
          <p:cNvPr id="5" name="">
            <a:extLst xmlns:a="http://schemas.openxmlformats.org/drawingml/2006/main">
              <a:ext uri="{FF2B5EF4-FFF2-40B4-BE49-F238E27FC236}">
                <a16:creationId xmlns:a16="http://schemas.microsoft.com/office/drawing/2014/main" id="{6328E3BD-FEF8-41BD-A25D-FA969BB0C285}"/>
              </a:ext>
            </a:extLst>
          </p:cNvPr>
          <p:cNvSpPr>
            <a:spLocks xmlns:a="http://schemas.openxmlformats.org/drawingml/2006/main" noGrp="1"/>
          </p:cNvSpPr>
          <p:nvPr/>
        </p:nvSpPr>
        <p:spPr>
          <a:xfrm xmlns:a="http://schemas.openxmlformats.org/drawingml/2006/main">
            <a:off x="723900" y="2571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제안</a:t>
            </a:r>
          </a:p>
        </p:txBody>
      </p:sp>
      <p:sp>
        <p:nvSpPr>
          <p:cNvPr id="6" name="">
            <a:extLst xmlns:a="http://schemas.openxmlformats.org/drawingml/2006/main">
              <a:ext uri="{FF2B5EF4-FFF2-40B4-BE49-F238E27FC236}">
                <a16:creationId xmlns:a16="http://schemas.microsoft.com/office/drawing/2014/main" id="{1B299C92-D68A-4D9F-AD97-C1C7DED89A9B}"/>
              </a:ext>
            </a:extLst>
          </p:cNvPr>
          <p:cNvSpPr>
            <a:spLocks xmlns:a="http://schemas.openxmlformats.org/drawingml/2006/main" noGrp="1"/>
          </p:cNvSpPr>
          <p:nvPr/>
        </p:nvSpPr>
        <p:spPr>
          <a:xfrm xmlns:a="http://schemas.openxmlformats.org/drawingml/2006/main">
            <a:off x="3095625" y="2571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새 주장·변경 이유·영향받는 페이지를 제시</a:t>
            </a:r>
          </a:p>
        </p:txBody>
      </p:sp>
      <p:sp>
        <p:nvSpPr>
          <p:cNvPr id="7" name="">
            <a:extLst xmlns:a="http://schemas.openxmlformats.org/drawingml/2006/main">
              <a:ext uri="{FF2B5EF4-FFF2-40B4-BE49-F238E27FC236}">
                <a16:creationId xmlns:a16="http://schemas.microsoft.com/office/drawing/2014/main" id="{620FEC77-AD5E-42E0-972A-432E66F7698F}"/>
              </a:ext>
            </a:extLst>
          </p:cNvPr>
          <p:cNvSpPr>
            <a:spLocks xmlns:a="http://schemas.openxmlformats.org/drawingml/2006/main" noGrp="1"/>
          </p:cNvSpPr>
          <p:nvPr/>
        </p:nvSpPr>
        <p:spPr>
          <a:xfrm xmlns:a="http://schemas.openxmlformats.org/drawingml/2006/main">
            <a:off x="723900" y="3524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승인</a:t>
            </a:r>
          </a:p>
        </p:txBody>
      </p:sp>
      <p:sp>
        <p:nvSpPr>
          <p:cNvPr id="8" name="">
            <a:extLst xmlns:a="http://schemas.openxmlformats.org/drawingml/2006/main">
              <a:ext uri="{FF2B5EF4-FFF2-40B4-BE49-F238E27FC236}">
                <a16:creationId xmlns:a16="http://schemas.microsoft.com/office/drawing/2014/main" id="{59DB0852-9524-4E25-8C40-79D12CFBA03D}"/>
              </a:ext>
            </a:extLst>
          </p:cNvPr>
          <p:cNvSpPr>
            <a:spLocks xmlns:a="http://schemas.openxmlformats.org/drawingml/2006/main" noGrp="1"/>
          </p:cNvSpPr>
          <p:nvPr/>
        </p:nvSpPr>
        <p:spPr>
          <a:xfrm xmlns:a="http://schemas.openxmlformats.org/drawingml/2006/main">
            <a:off x="3095625" y="3524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핵심 숫자와 상충 견해를 사람이 대조</a:t>
            </a:r>
          </a:p>
        </p:txBody>
      </p:sp>
      <p:sp>
        <p:nvSpPr>
          <p:cNvPr id="9" name="">
            <a:extLst xmlns:a="http://schemas.openxmlformats.org/drawingml/2006/main">
              <a:ext uri="{FF2B5EF4-FFF2-40B4-BE49-F238E27FC236}">
                <a16:creationId xmlns:a16="http://schemas.microsoft.com/office/drawing/2014/main" id="{EFE15699-0AD9-45BC-A9EB-20E4CE4C23DC}"/>
              </a:ext>
            </a:extLst>
          </p:cNvPr>
          <p:cNvSpPr>
            <a:spLocks xmlns:a="http://schemas.openxmlformats.org/drawingml/2006/main" noGrp="1"/>
          </p:cNvSpPr>
          <p:nvPr/>
        </p:nvSpPr>
        <p:spPr>
          <a:xfrm xmlns:a="http://schemas.openxmlformats.org/drawingml/2006/main">
            <a:off x="723900" y="44767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기록</a:t>
            </a:r>
          </a:p>
        </p:txBody>
      </p:sp>
      <p:sp>
        <p:nvSpPr>
          <p:cNvPr id="10" name="">
            <a:extLst xmlns:a="http://schemas.openxmlformats.org/drawingml/2006/main">
              <a:ext uri="{FF2B5EF4-FFF2-40B4-BE49-F238E27FC236}">
                <a16:creationId xmlns:a16="http://schemas.microsoft.com/office/drawing/2014/main" id="{C021386B-B955-484B-945C-D8DA6B2B312E}"/>
              </a:ext>
            </a:extLst>
          </p:cNvPr>
          <p:cNvSpPr>
            <a:spLocks xmlns:a="http://schemas.openxmlformats.org/drawingml/2006/main" noGrp="1"/>
          </p:cNvSpPr>
          <p:nvPr/>
        </p:nvSpPr>
        <p:spPr>
          <a:xfrm xmlns:a="http://schemas.openxmlformats.org/drawingml/2006/main">
            <a:off x="3095625" y="44767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변경 이력과 검토자, 필요시 되돌리기</a:t>
            </a:r>
          </a:p>
        </p:txBody>
      </p:sp>
      <p:sp>
        <p:nvSpPr>
          <p:cNvPr id="11" name="">
            <a:extLst xmlns:a="http://schemas.openxmlformats.org/drawingml/2006/main">
              <a:ext uri="{FF2B5EF4-FFF2-40B4-BE49-F238E27FC236}">
                <a16:creationId xmlns:a16="http://schemas.microsoft.com/office/drawing/2014/main" id="{22CAE108-165F-48E1-B746-A4E69A9F730F}"/>
              </a:ext>
            </a:extLst>
          </p:cNvPr>
          <p:cNvSpPr>
            <a:spLocks xmlns:a="http://schemas.openxmlformats.org/drawingml/2006/main" noGrp="1"/>
          </p:cNvSpPr>
          <p:nvPr/>
        </p:nvSpPr>
        <p:spPr>
          <a:xfrm xmlns:a="http://schemas.openxmlformats.org/drawingml/2006/main">
            <a:off x="723900" y="5667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F572C"/>
                </a:solidFill>
                <a:latin typeface="Noto Sans CJK KR"/>
                <a:ea typeface="Noto Sans CJK KR"/>
                <a:cs typeface="Noto Sans CJK KR"/>
              </a:defRPr>
            </a:defPPr>
          </a:lstStyle>
          <a:p xmlns:a="http://schemas.openxmlformats.org/drawingml/2006/main">
            <a:pPr>
              <a:defRPr sz="2025" b="1">
                <a:solidFill>
                  <a:srgbClr val="AF572C"/>
                </a:solidFill>
                <a:latin typeface="Noto Sans CJK KR"/>
                <a:ea typeface="Noto Sans CJK KR"/>
                <a:cs typeface="Noto Sans CJK KR"/>
              </a:defRPr>
            </a:pPr>
            <a:r>
              <a:rPr sz="2025" b="1">
                <a:solidFill>
                  <a:srgbClr val="AF572C"/>
                </a:solidFill>
                <a:latin typeface="Noto Sans CJK KR"/>
                <a:ea typeface="Noto Sans CJK KR"/>
                <a:cs typeface="Noto Sans CJK KR"/>
              </a:rPr>
              <a:t>원문이 사라져도 파생 기억에 내용이 남을 수 있다</a:t>
            </a:r>
          </a:p>
        </p:txBody>
      </p:sp>
    </p:spTree>
    <p:extLst>
      <p:ext uri="{BB962C8B-B14F-4D97-AF65-F5344CB8AC3E}">
        <p14:creationId xmlns:p14="http://schemas.microsoft.com/office/powerpoint/2010/main" val="690639353"/>
      </p:ext>
    </p:extLst>
  </p:cSld>
</p:sld>
</file>

<file path=ppt/slides/slide1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5C406C-F69D-4427-8239-901894976422}"/>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금융 자료를 다룰 때의 경계</a:t>
            </a:r>
          </a:p>
        </p:txBody>
      </p:sp>
      <p:sp>
        <p:nvSpPr>
          <p:cNvPr id="2" name="">
            <a:extLst xmlns:a="http://schemas.openxmlformats.org/drawingml/2006/main">
              <a:ext uri="{FF2B5EF4-FFF2-40B4-BE49-F238E27FC236}">
                <a16:creationId xmlns:a16="http://schemas.microsoft.com/office/drawing/2014/main" id="{1D39C253-25DC-47C0-9609-7E39B061151A}"/>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13</a:t>
            </a:r>
          </a:p>
        </p:txBody>
      </p:sp>
      <p:sp>
        <p:nvSpPr>
          <p:cNvPr id="3" name="">
            <a:extLst xmlns:a="http://schemas.openxmlformats.org/drawingml/2006/main">
              <a:ext uri="{FF2B5EF4-FFF2-40B4-BE49-F238E27FC236}">
                <a16:creationId xmlns:a16="http://schemas.microsoft.com/office/drawing/2014/main" id="{CCC8588B-8C13-4B0A-924F-053E24031FE5}"/>
              </a:ext>
            </a:extLst>
          </p:cNvPr>
          <p:cNvSpPr>
            <a:spLocks xmlns:a="http://schemas.openxmlformats.org/drawingml/2006/main" noGrp="1"/>
          </p:cNvSpPr>
          <p:nvPr/>
        </p:nvSpPr>
        <p:spPr>
          <a:xfrm xmlns:a="http://schemas.openxmlformats.org/drawingml/2006/main">
            <a:off x="723900" y="1666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개인정보·기밀</a:t>
            </a:r>
          </a:p>
        </p:txBody>
      </p:sp>
      <p:sp>
        <p:nvSpPr>
          <p:cNvPr id="4" name="">
            <a:extLst xmlns:a="http://schemas.openxmlformats.org/drawingml/2006/main">
              <a:ext uri="{FF2B5EF4-FFF2-40B4-BE49-F238E27FC236}">
                <a16:creationId xmlns:a16="http://schemas.microsoft.com/office/drawing/2014/main" id="{22368826-3685-4235-B762-FFF9F0129B4B}"/>
              </a:ext>
            </a:extLst>
          </p:cNvPr>
          <p:cNvSpPr>
            <a:spLocks xmlns:a="http://schemas.openxmlformats.org/drawingml/2006/main" noGrp="1"/>
          </p:cNvSpPr>
          <p:nvPr/>
        </p:nvSpPr>
        <p:spPr>
          <a:xfrm xmlns:a="http://schemas.openxmlformats.org/drawingml/2006/main">
            <a:off x="3095625" y="1666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수업에는 공개 자료 또는 합성 자료 사용</a:t>
            </a:r>
          </a:p>
        </p:txBody>
      </p:sp>
      <p:sp>
        <p:nvSpPr>
          <p:cNvPr id="5" name="">
            <a:extLst xmlns:a="http://schemas.openxmlformats.org/drawingml/2006/main">
              <a:ext uri="{FF2B5EF4-FFF2-40B4-BE49-F238E27FC236}">
                <a16:creationId xmlns:a16="http://schemas.microsoft.com/office/drawing/2014/main" id="{087CFA25-5E8E-4824-94E1-71284AB3CCF7}"/>
              </a:ext>
            </a:extLst>
          </p:cNvPr>
          <p:cNvSpPr>
            <a:spLocks xmlns:a="http://schemas.openxmlformats.org/drawingml/2006/main" noGrp="1"/>
          </p:cNvSpPr>
          <p:nvPr/>
        </p:nvSpPr>
        <p:spPr>
          <a:xfrm xmlns:a="http://schemas.openxmlformats.org/drawingml/2006/main">
            <a:off x="723900" y="2619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외부 전송</a:t>
            </a:r>
          </a:p>
        </p:txBody>
      </p:sp>
      <p:sp>
        <p:nvSpPr>
          <p:cNvPr id="6" name="">
            <a:extLst xmlns:a="http://schemas.openxmlformats.org/drawingml/2006/main">
              <a:ext uri="{FF2B5EF4-FFF2-40B4-BE49-F238E27FC236}">
                <a16:creationId xmlns:a16="http://schemas.microsoft.com/office/drawing/2014/main" id="{913AEBA9-2B43-4512-AE42-79A7AC597AEF}"/>
              </a:ext>
            </a:extLst>
          </p:cNvPr>
          <p:cNvSpPr>
            <a:spLocks xmlns:a="http://schemas.openxmlformats.org/drawingml/2006/main" noGrp="1"/>
          </p:cNvSpPr>
          <p:nvPr/>
        </p:nvSpPr>
        <p:spPr>
          <a:xfrm xmlns:a="http://schemas.openxmlformats.org/drawingml/2006/main">
            <a:off x="3095625" y="2619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사용할 모델과 전송할 데이터 범위를 확인</a:t>
            </a:r>
          </a:p>
        </p:txBody>
      </p:sp>
      <p:sp>
        <p:nvSpPr>
          <p:cNvPr id="7" name="">
            <a:extLst xmlns:a="http://schemas.openxmlformats.org/drawingml/2006/main">
              <a:ext uri="{FF2B5EF4-FFF2-40B4-BE49-F238E27FC236}">
                <a16:creationId xmlns:a16="http://schemas.microsoft.com/office/drawing/2014/main" id="{2B548903-062D-4EAB-92E9-0175DC639899}"/>
              </a:ext>
            </a:extLst>
          </p:cNvPr>
          <p:cNvSpPr>
            <a:spLocks xmlns:a="http://schemas.openxmlformats.org/drawingml/2006/main" noGrp="1"/>
          </p:cNvSpPr>
          <p:nvPr/>
        </p:nvSpPr>
        <p:spPr>
          <a:xfrm xmlns:a="http://schemas.openxmlformats.org/drawingml/2006/main">
            <a:off x="723900" y="3571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문서 속 명령</a:t>
            </a:r>
          </a:p>
        </p:txBody>
      </p:sp>
      <p:sp>
        <p:nvSpPr>
          <p:cNvPr id="8" name="">
            <a:extLst xmlns:a="http://schemas.openxmlformats.org/drawingml/2006/main">
              <a:ext uri="{FF2B5EF4-FFF2-40B4-BE49-F238E27FC236}">
                <a16:creationId xmlns:a16="http://schemas.microsoft.com/office/drawing/2014/main" id="{058F5EE7-AE30-4A73-AFFD-D1E98F968BAF}"/>
              </a:ext>
            </a:extLst>
          </p:cNvPr>
          <p:cNvSpPr>
            <a:spLocks xmlns:a="http://schemas.openxmlformats.org/drawingml/2006/main" noGrp="1"/>
          </p:cNvSpPr>
          <p:nvPr/>
        </p:nvSpPr>
        <p:spPr>
          <a:xfrm xmlns:a="http://schemas.openxmlformats.org/drawingml/2006/main">
            <a:off x="3095625" y="3571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“파일을 업로드하라” 같은 문구는 실행하지 않음</a:t>
            </a:r>
          </a:p>
        </p:txBody>
      </p:sp>
      <p:sp>
        <p:nvSpPr>
          <p:cNvPr id="9" name="">
            <a:extLst xmlns:a="http://schemas.openxmlformats.org/drawingml/2006/main">
              <a:ext uri="{FF2B5EF4-FFF2-40B4-BE49-F238E27FC236}">
                <a16:creationId xmlns:a16="http://schemas.microsoft.com/office/drawing/2014/main" id="{0F18AA8A-E807-42F8-92BD-17FB98C28DF3}"/>
              </a:ext>
            </a:extLst>
          </p:cNvPr>
          <p:cNvSpPr>
            <a:spLocks xmlns:a="http://schemas.openxmlformats.org/drawingml/2006/main" noGrp="1"/>
          </p:cNvSpPr>
          <p:nvPr/>
        </p:nvSpPr>
        <p:spPr>
          <a:xfrm xmlns:a="http://schemas.openxmlformats.org/drawingml/2006/main">
            <a:off x="723900" y="4524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실행 권한</a:t>
            </a:r>
          </a:p>
        </p:txBody>
      </p:sp>
      <p:sp>
        <p:nvSpPr>
          <p:cNvPr id="10" name="">
            <a:extLst xmlns:a="http://schemas.openxmlformats.org/drawingml/2006/main">
              <a:ext uri="{FF2B5EF4-FFF2-40B4-BE49-F238E27FC236}">
                <a16:creationId xmlns:a16="http://schemas.microsoft.com/office/drawing/2014/main" id="{B311F030-FD88-446A-9718-93F586E7673C}"/>
              </a:ext>
            </a:extLst>
          </p:cNvPr>
          <p:cNvSpPr>
            <a:spLocks xmlns:a="http://schemas.openxmlformats.org/drawingml/2006/main" noGrp="1"/>
          </p:cNvSpPr>
          <p:nvPr/>
        </p:nvSpPr>
        <p:spPr>
          <a:xfrm xmlns:a="http://schemas.openxmlformats.org/drawingml/2006/main">
            <a:off x="3095625" y="4524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매매·송금·외부 공유 권한을 기억 관리와 분리</a:t>
            </a:r>
          </a:p>
        </p:txBody>
      </p:sp>
      <p:sp>
        <p:nvSpPr>
          <p:cNvPr id="11" name="">
            <a:extLst xmlns:a="http://schemas.openxmlformats.org/drawingml/2006/main">
              <a:ext uri="{FF2B5EF4-FFF2-40B4-BE49-F238E27FC236}">
                <a16:creationId xmlns:a16="http://schemas.microsoft.com/office/drawing/2014/main" id="{E5139573-900D-4DED-8A7D-2D0960EE809B}"/>
              </a:ext>
            </a:extLst>
          </p:cNvPr>
          <p:cNvSpPr>
            <a:spLocks xmlns:a="http://schemas.openxmlformats.org/drawingml/2006/main" noGrp="1"/>
          </p:cNvSpPr>
          <p:nvPr/>
        </p:nvSpPr>
        <p:spPr>
          <a:xfrm xmlns:a="http://schemas.openxmlformats.org/drawingml/2006/main">
            <a:off x="723900" y="5762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AF572C"/>
                </a:solidFill>
                <a:latin typeface="Noto Sans CJK KR"/>
                <a:ea typeface="Noto Sans CJK KR"/>
                <a:cs typeface="Noto Sans CJK KR"/>
              </a:defRPr>
            </a:defPPr>
          </a:lstStyle>
          <a:p xmlns:a="http://schemas.openxmlformats.org/drawingml/2006/main">
            <a:pPr>
              <a:defRPr sz="1725" b="1">
                <a:solidFill>
                  <a:srgbClr val="AF572C"/>
                </a:solidFill>
                <a:latin typeface="Noto Sans CJK KR"/>
                <a:ea typeface="Noto Sans CJK KR"/>
                <a:cs typeface="Noto Sans CJK KR"/>
              </a:defRPr>
            </a:pPr>
            <a:r>
              <a:rPr sz="1725" b="1">
                <a:solidFill>
                  <a:srgbClr val="AF572C"/>
                </a:solidFill>
                <a:latin typeface="Noto Sans CJK KR"/>
                <a:ea typeface="Noto Sans CJK KR"/>
                <a:cs typeface="Noto Sans CJK KR"/>
              </a:rPr>
              <a:t>로컬 보관만으로 전체 처리 과정의 비공개성이 보장되지는 않는다</a:t>
            </a:r>
          </a:p>
        </p:txBody>
      </p:sp>
    </p:spTree>
    <p:extLst>
      <p:ext uri="{BB962C8B-B14F-4D97-AF65-F5344CB8AC3E}">
        <p14:creationId xmlns:p14="http://schemas.microsoft.com/office/powerpoint/2010/main" val="86216676"/>
      </p:ext>
    </p:extLst>
  </p:cSld>
</p:sld>
</file>

<file path=ppt/slides/slide1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7B02D98-8423-4148-97C4-343531BBD43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기억의 품질을 확인하는 질문</a:t>
            </a:r>
          </a:p>
        </p:txBody>
      </p:sp>
      <p:sp>
        <p:nvSpPr>
          <p:cNvPr id="2" name="">
            <a:extLst xmlns:a="http://schemas.openxmlformats.org/drawingml/2006/main">
              <a:ext uri="{FF2B5EF4-FFF2-40B4-BE49-F238E27FC236}">
                <a16:creationId xmlns:a16="http://schemas.microsoft.com/office/drawing/2014/main" id="{350A006A-B9DD-4BFD-9B0C-7842707430F5}"/>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14</a:t>
            </a:r>
          </a:p>
        </p:txBody>
      </p:sp>
      <p:graphicFrame>
        <p:nvGraphicFramePr>
          <p:cNvPr id="3" name="">
            <a:extLst xmlns:a="http://schemas.openxmlformats.org/drawingml/2006/main">
              <a:ext uri="{FF2B5EF4-FFF2-40B4-BE49-F238E27FC236}">
                <a16:creationId xmlns:a16="http://schemas.microsoft.com/office/drawing/2014/main" id="{0CB5B073-EA71-4B07-A19C-B317BCEB1436}"/>
              </a:ext>
            </a:extLst>
          </p:cNvPr>
          <p:cNvGraphicFramePr/>
          <p:nvPr/>
        </p:nvGraphicFramePr>
        <p:xfrm>
          <a:off xmlns:a="http://schemas.openxmlformats.org/drawingml/2006/main" x="685800" y="1666875"/>
          <a:ext xmlns:a="http://schemas.openxmlformats.org/drawingml/2006/main" cx="10820400" cy="3952875"/>
        </p:xfrm>
        <a:graphic xmlns:a="http://schemas.openxmlformats.org/drawingml/2006/main">
          <a:graphicData uri="http://schemas.openxmlformats.org/drawingml/2006/table">
            <a:tbl>
              <a:tblPr/>
              <a:tblGrid>
                <a:gridCol w="2476500"/>
                <a:gridCol w="8343900"/>
              </a:tblGrid>
              <a:tr h="658813">
                <a:tc>
                  <a:txBody>
                    <a:bodyPr/>
                    <a:lstStyle/>
                    <a:p>
                      <a:r>
                        <a:rPr sz="1800" b="1">
                          <a:solidFill>
                            <a:srgbClr val="FFFFFF"/>
                          </a:solidFill>
                          <a:latin typeface="Noto Sans CJK KR"/>
                          <a:ea typeface="Noto Sans CJK KR"/>
                          <a:cs typeface="Noto Sans CJK KR"/>
                        </a:rPr>
                        <a:t>검사 항목</a:t>
                      </a:r>
                    </a:p>
                  </a:txBody>
                  <a:tcPr marL="91440" marR="91440" marT="45720" marB="45720">
                    <a:solidFill>
                      <a:srgbClr val="112C3E"/>
                    </a:solidFill>
                  </a:tcPr>
                </a:tc>
                <a:tc>
                  <a:txBody>
                    <a:bodyPr/>
                    <a:lstStyle/>
                    <a:p>
                      <a:r>
                        <a:rPr sz="1800" b="1">
                          <a:solidFill>
                            <a:srgbClr val="FFFFFF"/>
                          </a:solidFill>
                          <a:latin typeface="Noto Sans CJK KR"/>
                          <a:ea typeface="Noto Sans CJK KR"/>
                          <a:cs typeface="Noto Sans CJK KR"/>
                        </a:rPr>
                        <a:t>통과 조건</a:t>
                      </a:r>
                    </a:p>
                  </a:txBody>
                  <a:tcPr marL="91440" marR="91440" marT="45720" marB="45720">
                    <a:solidFill>
                      <a:srgbClr val="112C3E"/>
                    </a:solidFill>
                  </a:tcPr>
                </a:tc>
              </a:tr>
              <a:tr h="658813">
                <a:tc>
                  <a:txBody>
                    <a:bodyPr/>
                    <a:lstStyle/>
                    <a:p>
                      <a:r>
                        <a:rPr sz="1875" b="0">
                          <a:solidFill>
                            <a:srgbClr val="193344"/>
                          </a:solidFill>
                          <a:latin typeface="Noto Sans CJK KR"/>
                          <a:ea typeface="Noto Sans CJK KR"/>
                          <a:cs typeface="Noto Sans CJK KR"/>
                        </a:rPr>
                        <a:t>최신성</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A증권 v2를 현재 전망으로 사용</a:t>
                      </a:r>
                    </a:p>
                  </a:txBody>
                  <a:tcPr marL="91440" marR="91440" marT="45720" marB="45720">
                    <a:solidFill>
                      <a:srgbClr val="FFFFFF"/>
                    </a:solidFill>
                  </a:tcPr>
                </a:tc>
              </a:tr>
              <a:tr h="658813">
                <a:tc>
                  <a:txBody>
                    <a:bodyPr/>
                    <a:lstStyle/>
                    <a:p>
                      <a:r>
                        <a:rPr sz="1875" b="0">
                          <a:solidFill>
                            <a:srgbClr val="193344"/>
                          </a:solidFill>
                          <a:latin typeface="Noto Sans CJK KR"/>
                          <a:ea typeface="Noto Sans CJK KR"/>
                          <a:cs typeface="Noto Sans CJK KR"/>
                        </a:rPr>
                        <a:t>출처 일치</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4,500원을 지지하는 원문 위치를 제시</a:t>
                      </a:r>
                    </a:p>
                  </a:txBody>
                  <a:tcPr marL="91440" marR="91440" marT="45720" marB="45720">
                    <a:solidFill>
                      <a:srgbClr val="E5EFED"/>
                    </a:solidFill>
                  </a:tcPr>
                </a:tc>
              </a:tr>
              <a:tr h="658813">
                <a:tc>
                  <a:txBody>
                    <a:bodyPr/>
                    <a:lstStyle/>
                    <a:p>
                      <a:r>
                        <a:rPr sz="1875" b="0">
                          <a:solidFill>
                            <a:srgbClr val="193344"/>
                          </a:solidFill>
                          <a:latin typeface="Noto Sans CJK KR"/>
                          <a:ea typeface="Noto Sans CJK KR"/>
                          <a:cs typeface="Noto Sans CJK KR"/>
                        </a:rPr>
                        <a:t>상충 견해</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B증권 5,200원을 지우거나 평균내지 않음</a:t>
                      </a:r>
                    </a:p>
                  </a:txBody>
                  <a:tcPr marL="91440" marR="91440" marT="45720" marB="45720">
                    <a:solidFill>
                      <a:srgbClr val="FFFFFF"/>
                    </a:solidFill>
                  </a:tcPr>
                </a:tc>
              </a:tr>
              <a:tr h="658813">
                <a:tc>
                  <a:txBody>
                    <a:bodyPr/>
                    <a:lstStyle/>
                    <a:p>
                      <a:r>
                        <a:rPr sz="1875" b="0">
                          <a:solidFill>
                            <a:srgbClr val="193344"/>
                          </a:solidFill>
                          <a:latin typeface="Noto Sans CJK KR"/>
                          <a:ea typeface="Noto Sans CJK KR"/>
                          <a:cs typeface="Noto Sans CJK KR"/>
                        </a:rPr>
                        <a:t>수정 이력</a:t>
                      </a:r>
                    </a:p>
                  </a:txBody>
                  <a:tcPr marL="91440" marR="91440" marT="45720" marB="45720">
                    <a:solidFill>
                      <a:srgbClr val="E5EFED"/>
                    </a:solidFill>
                  </a:tcPr>
                </a:tc>
                <a:tc>
                  <a:txBody>
                    <a:bodyPr/>
                    <a:lstStyle/>
                    <a:p>
                      <a:r>
                        <a:rPr sz="1875" b="0">
                          <a:solidFill>
                            <a:srgbClr val="193344"/>
                          </a:solidFill>
                          <a:latin typeface="Noto Sans CJK KR"/>
                          <a:ea typeface="Noto Sans CJK KR"/>
                          <a:cs typeface="Noto Sans CJK KR"/>
                        </a:rPr>
                        <a:t>v1과 하향 이유를 다시 찾을 수 있음</a:t>
                      </a:r>
                    </a:p>
                  </a:txBody>
                  <a:tcPr marL="91440" marR="91440" marT="45720" marB="45720">
                    <a:solidFill>
                      <a:srgbClr val="E5EFED"/>
                    </a:solidFill>
                  </a:tcPr>
                </a:tc>
              </a:tr>
              <a:tr h="658813">
                <a:tc>
                  <a:txBody>
                    <a:bodyPr/>
                    <a:lstStyle/>
                    <a:p>
                      <a:r>
                        <a:rPr sz="1875" b="0">
                          <a:solidFill>
                            <a:srgbClr val="193344"/>
                          </a:solidFill>
                          <a:latin typeface="Noto Sans CJK KR"/>
                          <a:ea typeface="Noto Sans CJK KR"/>
                          <a:cs typeface="Noto Sans CJK KR"/>
                        </a:rPr>
                        <a:t>권한 준수</a:t>
                      </a:r>
                    </a:p>
                  </a:txBody>
                  <a:tcPr marL="91440" marR="91440" marT="45720" marB="45720">
                    <a:solidFill>
                      <a:srgbClr val="FFFFFF"/>
                    </a:solidFill>
                  </a:tcPr>
                </a:tc>
                <a:tc>
                  <a:txBody>
                    <a:bodyPr/>
                    <a:lstStyle/>
                    <a:p>
                      <a:r>
                        <a:rPr sz="1875" b="0">
                          <a:solidFill>
                            <a:srgbClr val="193344"/>
                          </a:solidFill>
                          <a:latin typeface="Noto Sans CJK KR"/>
                          <a:ea typeface="Noto Sans CJK KR"/>
                          <a:cs typeface="Noto Sans CJK KR"/>
                        </a:rPr>
                        <a:t>문서 속 명령으로 파일을 외부 전송하지 않음</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34094390"/>
      </p:ext>
    </p:extLst>
  </p:cSld>
</p:sld>
</file>

<file path=ppt/slides/slide1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EF6172-34BE-4470-8204-122D4805CD9D}"/>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WWAI에 적용한 역할 분담 예시</a:t>
            </a:r>
          </a:p>
        </p:txBody>
      </p:sp>
      <p:sp>
        <p:nvSpPr>
          <p:cNvPr id="2" name="">
            <a:extLst xmlns:a="http://schemas.openxmlformats.org/drawingml/2006/main">
              <a:ext uri="{FF2B5EF4-FFF2-40B4-BE49-F238E27FC236}">
                <a16:creationId xmlns:a16="http://schemas.microsoft.com/office/drawing/2014/main" id="{A5C0CCBB-3000-4AEA-AC4E-B55C987DE321}"/>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15</a:t>
            </a:r>
          </a:p>
        </p:txBody>
      </p:sp>
      <p:sp>
        <p:nvSpPr>
          <p:cNvPr id="3" name="">
            <a:extLst xmlns:a="http://schemas.openxmlformats.org/drawingml/2006/main">
              <a:ext uri="{FF2B5EF4-FFF2-40B4-BE49-F238E27FC236}">
                <a16:creationId xmlns:a16="http://schemas.microsoft.com/office/drawing/2014/main" id="{E4CE9A6F-4A80-47E0-8FB3-A54C4A297802}"/>
              </a:ext>
            </a:extLst>
          </p:cNvPr>
          <p:cNvSpPr>
            <a:spLocks xmlns:a="http://schemas.openxmlformats.org/drawingml/2006/main" noGrp="1"/>
          </p:cNvSpPr>
          <p:nvPr/>
        </p:nvSpPr>
        <p:spPr>
          <a:xfrm xmlns:a="http://schemas.openxmlformats.org/drawingml/2006/main">
            <a:off x="723900" y="176212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Librarian</a:t>
            </a:r>
          </a:p>
        </p:txBody>
      </p:sp>
      <p:sp>
        <p:nvSpPr>
          <p:cNvPr id="4" name="">
            <a:extLst xmlns:a="http://schemas.openxmlformats.org/drawingml/2006/main">
              <a:ext uri="{FF2B5EF4-FFF2-40B4-BE49-F238E27FC236}">
                <a16:creationId xmlns:a16="http://schemas.microsoft.com/office/drawing/2014/main" id="{BDC8A350-D4F8-400F-9612-19371CBB7AC0}"/>
              </a:ext>
            </a:extLst>
          </p:cNvPr>
          <p:cNvSpPr>
            <a:spLocks xmlns:a="http://schemas.openxmlformats.org/drawingml/2006/main" noGrp="1"/>
          </p:cNvSpPr>
          <p:nvPr/>
        </p:nvSpPr>
        <p:spPr>
          <a:xfrm xmlns:a="http://schemas.openxmlformats.org/drawingml/2006/main">
            <a:off x="3095625" y="17621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자료 수집, 출처 연결, 변경안 작성</a:t>
            </a:r>
          </a:p>
        </p:txBody>
      </p:sp>
      <p:sp>
        <p:nvSpPr>
          <p:cNvPr id="5" name="">
            <a:extLst xmlns:a="http://schemas.openxmlformats.org/drawingml/2006/main">
              <a:ext uri="{FF2B5EF4-FFF2-40B4-BE49-F238E27FC236}">
                <a16:creationId xmlns:a16="http://schemas.microsoft.com/office/drawing/2014/main" id="{C635CBB2-EE97-442F-B925-4D77D1411CB0}"/>
              </a:ext>
            </a:extLst>
          </p:cNvPr>
          <p:cNvSpPr>
            <a:spLocks xmlns:a="http://schemas.openxmlformats.org/drawingml/2006/main" noGrp="1"/>
          </p:cNvSpPr>
          <p:nvPr/>
        </p:nvSpPr>
        <p:spPr>
          <a:xfrm xmlns:a="http://schemas.openxmlformats.org/drawingml/2006/main">
            <a:off x="723900" y="3000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Evaluator</a:t>
            </a:r>
          </a:p>
        </p:txBody>
      </p:sp>
      <p:sp>
        <p:nvSpPr>
          <p:cNvPr id="6" name="">
            <a:extLst xmlns:a="http://schemas.openxmlformats.org/drawingml/2006/main">
              <a:ext uri="{FF2B5EF4-FFF2-40B4-BE49-F238E27FC236}">
                <a16:creationId xmlns:a16="http://schemas.microsoft.com/office/drawing/2014/main" id="{BA1CED93-6053-4BF5-A8FF-F6A06D4DB046}"/>
              </a:ext>
            </a:extLst>
          </p:cNvPr>
          <p:cNvSpPr>
            <a:spLocks xmlns:a="http://schemas.openxmlformats.org/drawingml/2006/main" noGrp="1"/>
          </p:cNvSpPr>
          <p:nvPr/>
        </p:nvSpPr>
        <p:spPr>
          <a:xfrm xmlns:a="http://schemas.openxmlformats.org/drawingml/2006/main">
            <a:off x="3095625" y="3000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인용·시점·충돌·권한 검사</a:t>
            </a:r>
          </a:p>
        </p:txBody>
      </p:sp>
      <p:sp>
        <p:nvSpPr>
          <p:cNvPr id="7" name="">
            <a:extLst xmlns:a="http://schemas.openxmlformats.org/drawingml/2006/main">
              <a:ext uri="{FF2B5EF4-FFF2-40B4-BE49-F238E27FC236}">
                <a16:creationId xmlns:a16="http://schemas.microsoft.com/office/drawing/2014/main" id="{A0C88EFE-4487-453B-9212-8389812B8165}"/>
              </a:ext>
            </a:extLst>
          </p:cNvPr>
          <p:cNvSpPr>
            <a:spLocks xmlns:a="http://schemas.openxmlformats.org/drawingml/2006/main" noGrp="1"/>
          </p:cNvSpPr>
          <p:nvPr/>
        </p:nvSpPr>
        <p:spPr>
          <a:xfrm xmlns:a="http://schemas.openxmlformats.org/drawingml/2006/main">
            <a:off x="723900" y="423862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경험 기억</a:t>
            </a:r>
          </a:p>
        </p:txBody>
      </p:sp>
      <p:sp>
        <p:nvSpPr>
          <p:cNvPr id="8" name="">
            <a:extLst xmlns:a="http://schemas.openxmlformats.org/drawingml/2006/main">
              <a:ext uri="{FF2B5EF4-FFF2-40B4-BE49-F238E27FC236}">
                <a16:creationId xmlns:a16="http://schemas.microsoft.com/office/drawing/2014/main" id="{DC81B830-7504-45A2-B43C-DFC64A2A04E1}"/>
              </a:ext>
            </a:extLst>
          </p:cNvPr>
          <p:cNvSpPr>
            <a:spLocks xmlns:a="http://schemas.openxmlformats.org/drawingml/2006/main" noGrp="1"/>
          </p:cNvSpPr>
          <p:nvPr/>
        </p:nvSpPr>
        <p:spPr>
          <a:xfrm xmlns:a="http://schemas.openxmlformats.org/drawingml/2006/main">
            <a:off x="3095625" y="42386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실패한 조건과 검증된 수정 방법 저장</a:t>
            </a:r>
          </a:p>
        </p:txBody>
      </p:sp>
      <p:sp>
        <p:nvSpPr>
          <p:cNvPr id="9" name="">
            <a:extLst xmlns:a="http://schemas.openxmlformats.org/drawingml/2006/main">
              <a:ext uri="{FF2B5EF4-FFF2-40B4-BE49-F238E27FC236}">
                <a16:creationId xmlns:a16="http://schemas.microsoft.com/office/drawing/2014/main" id="{C095EB04-1EC0-4419-B0BF-9341B3BE2E6B}"/>
              </a:ext>
            </a:extLst>
          </p:cNvPr>
          <p:cNvSpPr>
            <a:spLocks xmlns:a="http://schemas.openxmlformats.org/drawingml/2006/main" noGrp="1"/>
          </p:cNvSpPr>
          <p:nvPr/>
        </p:nvSpPr>
        <p:spPr>
          <a:xfrm xmlns:a="http://schemas.openxmlformats.org/drawingml/2006/main">
            <a:off x="723900"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873"/>
                </a:solidFill>
                <a:latin typeface="Noto Sans CJK KR"/>
                <a:ea typeface="Noto Sans CJK KR"/>
                <a:cs typeface="Noto Sans CJK KR"/>
              </a:defRPr>
            </a:defPPr>
          </a:lstStyle>
          <a:p xmlns:a="http://schemas.openxmlformats.org/drawingml/2006/main">
            <a:pPr>
              <a:defRPr sz="1875" b="0">
                <a:solidFill>
                  <a:srgbClr val="516873"/>
                </a:solidFill>
                <a:latin typeface="Noto Sans CJK KR"/>
                <a:ea typeface="Noto Sans CJK KR"/>
                <a:cs typeface="Noto Sans CJK KR"/>
              </a:defRPr>
            </a:pPr>
            <a:r>
              <a:rPr sz="1875" b="0">
                <a:solidFill>
                  <a:srgbClr val="516873"/>
                </a:solidFill>
                <a:latin typeface="Noto Sans CJK KR"/>
                <a:ea typeface="Noto Sans CJK KR"/>
                <a:cs typeface="Noto Sans CJK KR"/>
              </a:rPr>
              <a:t>이 수업의 설계 예시. Karpathy의 공식 역할 구성은 아니다.</a:t>
            </a:r>
          </a:p>
        </p:txBody>
      </p:sp>
    </p:spTree>
    <p:extLst>
      <p:ext uri="{BB962C8B-B14F-4D97-AF65-F5344CB8AC3E}">
        <p14:creationId xmlns:p14="http://schemas.microsoft.com/office/powerpoint/2010/main" val="2120907928"/>
      </p:ext>
    </p:extLst>
  </p:cSld>
</p:sld>
</file>

<file path=ppt/slides/slide1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1AE30E-60D3-47A7-8F20-CDBDFC326C6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3분 실습: 전망 수정 메모</a:t>
            </a:r>
          </a:p>
        </p:txBody>
      </p:sp>
      <p:sp>
        <p:nvSpPr>
          <p:cNvPr id="2" name="">
            <a:extLst xmlns:a="http://schemas.openxmlformats.org/drawingml/2006/main">
              <a:ext uri="{FF2B5EF4-FFF2-40B4-BE49-F238E27FC236}">
                <a16:creationId xmlns:a16="http://schemas.microsoft.com/office/drawing/2014/main" id="{6E191570-0547-49DB-A2E1-417F4DA4DC7F}"/>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16</a:t>
            </a:r>
          </a:p>
        </p:txBody>
      </p:sp>
      <p:sp>
        <p:nvSpPr>
          <p:cNvPr id="3" name="">
            <a:extLst xmlns:a="http://schemas.openxmlformats.org/drawingml/2006/main">
              <a:ext uri="{FF2B5EF4-FFF2-40B4-BE49-F238E27FC236}">
                <a16:creationId xmlns:a16="http://schemas.microsoft.com/office/drawing/2014/main" id="{803EC7CE-5872-4551-9183-7104EDDD1A9F}"/>
              </a:ext>
            </a:extLst>
          </p:cNvPr>
          <p:cNvSpPr>
            <a:spLocks xmlns:a="http://schemas.openxmlformats.org/drawingml/2006/main" noGrp="1"/>
          </p:cNvSpPr>
          <p:nvPr/>
        </p:nvSpPr>
        <p:spPr>
          <a:xfrm xmlns:a="http://schemas.openxmlformats.org/drawingml/2006/main">
            <a:off x="723900" y="1619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12C3E"/>
                </a:solidFill>
                <a:latin typeface="Noto Sans CJK KR"/>
                <a:ea typeface="Noto Sans CJK KR"/>
                <a:cs typeface="Noto Sans CJK KR"/>
              </a:defRPr>
            </a:defPPr>
          </a:lstStyle>
          <a:p xmlns:a="http://schemas.openxmlformats.org/drawingml/2006/main">
            <a:pPr>
              <a:defRPr sz="2550" b="1">
                <a:solidFill>
                  <a:srgbClr val="112C3E"/>
                </a:solidFill>
                <a:latin typeface="Noto Sans CJK KR"/>
                <a:ea typeface="Noto Sans CJK KR"/>
                <a:cs typeface="Noto Sans CJK KR"/>
              </a:defRPr>
            </a:pPr>
            <a:r>
              <a:rPr sz="2550" b="1">
                <a:solidFill>
                  <a:srgbClr val="112C3E"/>
                </a:solidFill>
                <a:latin typeface="Noto Sans CJK KR"/>
                <a:ea typeface="Noto Sans CJK KR"/>
                <a:cs typeface="Noto Sans CJK KR"/>
              </a:rPr>
              <a:t>질문: “9월 16일 기준 2027년 EPS 전망은?”</a:t>
            </a:r>
          </a:p>
        </p:txBody>
      </p:sp>
      <p:sp>
        <p:nvSpPr>
          <p:cNvPr id="4" name="">
            <a:extLst xmlns:a="http://schemas.openxmlformats.org/drawingml/2006/main">
              <a:ext uri="{FF2B5EF4-FFF2-40B4-BE49-F238E27FC236}">
                <a16:creationId xmlns:a16="http://schemas.microsoft.com/office/drawing/2014/main" id="{47A1CEF9-4375-4044-8F4C-6D8D183828B8}"/>
              </a:ext>
            </a:extLst>
          </p:cNvPr>
          <p:cNvSpPr>
            <a:spLocks xmlns:a="http://schemas.openxmlformats.org/drawingml/2006/main" noGrp="1"/>
          </p:cNvSpPr>
          <p:nvPr/>
        </p:nvSpPr>
        <p:spPr>
          <a:xfrm xmlns:a="http://schemas.openxmlformats.org/drawingml/2006/main">
            <a:off x="723900" y="2857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1분  작성</a:t>
            </a:r>
          </a:p>
        </p:txBody>
      </p:sp>
      <p:sp>
        <p:nvSpPr>
          <p:cNvPr id="5" name="">
            <a:extLst xmlns:a="http://schemas.openxmlformats.org/drawingml/2006/main">
              <a:ext uri="{FF2B5EF4-FFF2-40B4-BE49-F238E27FC236}">
                <a16:creationId xmlns:a16="http://schemas.microsoft.com/office/drawing/2014/main" id="{850D52B1-E520-4248-987E-89DF96039FFB}"/>
              </a:ext>
            </a:extLst>
          </p:cNvPr>
          <p:cNvSpPr>
            <a:spLocks xmlns:a="http://schemas.openxmlformats.org/drawingml/2006/main" noGrp="1"/>
          </p:cNvSpPr>
          <p:nvPr/>
        </p:nvSpPr>
        <p:spPr>
          <a:xfrm xmlns:a="http://schemas.openxmlformats.org/drawingml/2006/main">
            <a:off x="3095625" y="28575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현재 주장 + 기준일 + 출처 위치</a:t>
            </a:r>
          </a:p>
        </p:txBody>
      </p:sp>
      <p:sp>
        <p:nvSpPr>
          <p:cNvPr id="6" name="">
            <a:extLst xmlns:a="http://schemas.openxmlformats.org/drawingml/2006/main">
              <a:ext uri="{FF2B5EF4-FFF2-40B4-BE49-F238E27FC236}">
                <a16:creationId xmlns:a16="http://schemas.microsoft.com/office/drawing/2014/main" id="{9040BC44-6E48-4B0E-8B2C-41FAB179DD60}"/>
              </a:ext>
            </a:extLst>
          </p:cNvPr>
          <p:cNvSpPr>
            <a:spLocks xmlns:a="http://schemas.openxmlformats.org/drawingml/2006/main" noGrp="1"/>
          </p:cNvSpPr>
          <p:nvPr/>
        </p:nvSpPr>
        <p:spPr>
          <a:xfrm xmlns:a="http://schemas.openxmlformats.org/drawingml/2006/main">
            <a:off x="723900" y="39052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1분  갱신</a:t>
            </a:r>
          </a:p>
        </p:txBody>
      </p:sp>
      <p:sp>
        <p:nvSpPr>
          <p:cNvPr id="7" name="">
            <a:extLst xmlns:a="http://schemas.openxmlformats.org/drawingml/2006/main">
              <a:ext uri="{FF2B5EF4-FFF2-40B4-BE49-F238E27FC236}">
                <a16:creationId xmlns:a16="http://schemas.microsoft.com/office/drawing/2014/main" id="{DB2A1D4F-E132-4858-94B5-0110DCA0041A}"/>
              </a:ext>
            </a:extLst>
          </p:cNvPr>
          <p:cNvSpPr>
            <a:spLocks xmlns:a="http://schemas.openxmlformats.org/drawingml/2006/main" noGrp="1"/>
          </p:cNvSpPr>
          <p:nvPr/>
        </p:nvSpPr>
        <p:spPr>
          <a:xfrm xmlns:a="http://schemas.openxmlformats.org/drawingml/2006/main">
            <a:off x="3095625" y="390525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이전 값 + 변경 이유 + 다른 기관의 견해</a:t>
            </a:r>
          </a:p>
        </p:txBody>
      </p:sp>
      <p:sp>
        <p:nvSpPr>
          <p:cNvPr id="8" name="">
            <a:extLst xmlns:a="http://schemas.openxmlformats.org/drawingml/2006/main">
              <a:ext uri="{FF2B5EF4-FFF2-40B4-BE49-F238E27FC236}">
                <a16:creationId xmlns:a16="http://schemas.microsoft.com/office/drawing/2014/main" id="{DB25BB91-F4E9-4B4C-9997-B1260AB2F829}"/>
              </a:ext>
            </a:extLst>
          </p:cNvPr>
          <p:cNvSpPr>
            <a:spLocks xmlns:a="http://schemas.openxmlformats.org/drawingml/2006/main" noGrp="1"/>
          </p:cNvSpPr>
          <p:nvPr/>
        </p:nvSpPr>
        <p:spPr>
          <a:xfrm xmlns:a="http://schemas.openxmlformats.org/drawingml/2006/main">
            <a:off x="723900" y="49530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1분  검토</a:t>
            </a:r>
          </a:p>
        </p:txBody>
      </p:sp>
      <p:sp>
        <p:nvSpPr>
          <p:cNvPr id="9" name="">
            <a:extLst xmlns:a="http://schemas.openxmlformats.org/drawingml/2006/main">
              <a:ext uri="{FF2B5EF4-FFF2-40B4-BE49-F238E27FC236}">
                <a16:creationId xmlns:a16="http://schemas.microsoft.com/office/drawing/2014/main" id="{23F1BA6A-420F-469B-A50E-30EC70B531E1}"/>
              </a:ext>
            </a:extLst>
          </p:cNvPr>
          <p:cNvSpPr>
            <a:spLocks xmlns:a="http://schemas.openxmlformats.org/drawingml/2006/main" noGrp="1"/>
          </p:cNvSpPr>
          <p:nvPr/>
        </p:nvSpPr>
        <p:spPr>
          <a:xfrm xmlns:a="http://schemas.openxmlformats.org/drawingml/2006/main">
            <a:off x="3095625" y="4953000"/>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원문 없이 단정한 표현과 빠진 근거 찾기</a:t>
            </a:r>
          </a:p>
        </p:txBody>
      </p:sp>
    </p:spTree>
    <p:extLst>
      <p:ext uri="{BB962C8B-B14F-4D97-AF65-F5344CB8AC3E}">
        <p14:creationId xmlns:p14="http://schemas.microsoft.com/office/powerpoint/2010/main" val="281878510"/>
      </p:ext>
    </p:extLst>
  </p:cSld>
</p:sld>
</file>

<file path=ppt/slides/slide1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A92BC0-7D6F-49A4-ADC0-AF66FFF72731}"/>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작게 시작하는 수업용 구현</a:t>
            </a:r>
          </a:p>
        </p:txBody>
      </p:sp>
      <p:sp>
        <p:nvSpPr>
          <p:cNvPr id="2" name="">
            <a:extLst xmlns:a="http://schemas.openxmlformats.org/drawingml/2006/main">
              <a:ext uri="{FF2B5EF4-FFF2-40B4-BE49-F238E27FC236}">
                <a16:creationId xmlns:a16="http://schemas.microsoft.com/office/drawing/2014/main" id="{CF793611-8FD3-4BA7-A38A-B087E002FEC8}"/>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17</a:t>
            </a:r>
          </a:p>
        </p:txBody>
      </p:sp>
      <p:sp>
        <p:nvSpPr>
          <p:cNvPr id="3" name="">
            <a:extLst xmlns:a="http://schemas.openxmlformats.org/drawingml/2006/main">
              <a:ext uri="{FF2B5EF4-FFF2-40B4-BE49-F238E27FC236}">
                <a16:creationId xmlns:a16="http://schemas.microsoft.com/office/drawing/2014/main" id="{DDCF3CF1-8EA5-4AA0-B905-1B4C1926F0F0}"/>
              </a:ext>
            </a:extLst>
          </p:cNvPr>
          <p:cNvSpPr>
            <a:spLocks xmlns:a="http://schemas.openxmlformats.org/drawingml/2006/main" noGrp="1"/>
          </p:cNvSpPr>
          <p:nvPr/>
        </p:nvSpPr>
        <p:spPr>
          <a:xfrm xmlns:a="http://schemas.openxmlformats.org/drawingml/2006/main">
            <a:off x="723900" y="1666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준비</a:t>
            </a:r>
          </a:p>
        </p:txBody>
      </p:sp>
      <p:sp>
        <p:nvSpPr>
          <p:cNvPr id="4" name="">
            <a:extLst xmlns:a="http://schemas.openxmlformats.org/drawingml/2006/main">
              <a:ext uri="{FF2B5EF4-FFF2-40B4-BE49-F238E27FC236}">
                <a16:creationId xmlns:a16="http://schemas.microsoft.com/office/drawing/2014/main" id="{AF70C4C8-6710-4389-B039-0AC6EF32DFCC}"/>
              </a:ext>
            </a:extLst>
          </p:cNvPr>
          <p:cNvSpPr>
            <a:spLocks xmlns:a="http://schemas.openxmlformats.org/drawingml/2006/main" noGrp="1"/>
          </p:cNvSpPr>
          <p:nvPr/>
        </p:nvSpPr>
        <p:spPr>
          <a:xfrm xmlns:a="http://schemas.openxmlformats.org/drawingml/2006/main">
            <a:off x="3095625" y="1666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합성 보고서 2개와 로컬 Obsidian Vault</a:t>
            </a:r>
          </a:p>
        </p:txBody>
      </p:sp>
      <p:sp>
        <p:nvSpPr>
          <p:cNvPr id="5" name="">
            <a:extLst xmlns:a="http://schemas.openxmlformats.org/drawingml/2006/main">
              <a:ext uri="{FF2B5EF4-FFF2-40B4-BE49-F238E27FC236}">
                <a16:creationId xmlns:a16="http://schemas.microsoft.com/office/drawing/2014/main" id="{3ACED90D-42B1-4F13-AB03-025A0EC57106}"/>
              </a:ext>
            </a:extLst>
          </p:cNvPr>
          <p:cNvSpPr>
            <a:spLocks xmlns:a="http://schemas.openxmlformats.org/drawingml/2006/main" noGrp="1"/>
          </p:cNvSpPr>
          <p:nvPr/>
        </p:nvSpPr>
        <p:spPr>
          <a:xfrm xmlns:a="http://schemas.openxmlformats.org/drawingml/2006/main">
            <a:off x="723900" y="2619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최소 구조</a:t>
            </a:r>
          </a:p>
        </p:txBody>
      </p:sp>
      <p:sp>
        <p:nvSpPr>
          <p:cNvPr id="6" name="">
            <a:extLst xmlns:a="http://schemas.openxmlformats.org/drawingml/2006/main">
              <a:ext uri="{FF2B5EF4-FFF2-40B4-BE49-F238E27FC236}">
                <a16:creationId xmlns:a16="http://schemas.microsoft.com/office/drawing/2014/main" id="{64895D91-FF06-4B9E-B66B-357B2822DB83}"/>
              </a:ext>
            </a:extLst>
          </p:cNvPr>
          <p:cNvSpPr>
            <a:spLocks xmlns:a="http://schemas.openxmlformats.org/drawingml/2006/main" noGrp="1"/>
          </p:cNvSpPr>
          <p:nvPr/>
        </p:nvSpPr>
        <p:spPr>
          <a:xfrm xmlns:a="http://schemas.openxmlformats.org/drawingml/2006/main">
            <a:off x="3095625" y="2619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sources/ 원문, wiki/ 메모, rules.md 작성 규칙</a:t>
            </a:r>
          </a:p>
        </p:txBody>
      </p:sp>
      <p:sp>
        <p:nvSpPr>
          <p:cNvPr id="7" name="">
            <a:extLst xmlns:a="http://schemas.openxmlformats.org/drawingml/2006/main">
              <a:ext uri="{FF2B5EF4-FFF2-40B4-BE49-F238E27FC236}">
                <a16:creationId xmlns:a16="http://schemas.microsoft.com/office/drawing/2014/main" id="{F7F814F8-2AF2-4355-A7FB-7FDBFA4091F3}"/>
              </a:ext>
            </a:extLst>
          </p:cNvPr>
          <p:cNvSpPr>
            <a:spLocks xmlns:a="http://schemas.openxmlformats.org/drawingml/2006/main" noGrp="1"/>
          </p:cNvSpPr>
          <p:nvPr/>
        </p:nvSpPr>
        <p:spPr>
          <a:xfrm xmlns:a="http://schemas.openxmlformats.org/drawingml/2006/main">
            <a:off x="723900" y="35718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한 번의 갱신</a:t>
            </a:r>
          </a:p>
        </p:txBody>
      </p:sp>
      <p:sp>
        <p:nvSpPr>
          <p:cNvPr id="8" name="">
            <a:extLst xmlns:a="http://schemas.openxmlformats.org/drawingml/2006/main">
              <a:ext uri="{FF2B5EF4-FFF2-40B4-BE49-F238E27FC236}">
                <a16:creationId xmlns:a16="http://schemas.microsoft.com/office/drawing/2014/main" id="{F6F69AAF-8977-4A79-A46B-CEF7BA0F2DBF}"/>
              </a:ext>
            </a:extLst>
          </p:cNvPr>
          <p:cNvSpPr>
            <a:spLocks xmlns:a="http://schemas.openxmlformats.org/drawingml/2006/main" noGrp="1"/>
          </p:cNvSpPr>
          <p:nvPr/>
        </p:nvSpPr>
        <p:spPr>
          <a:xfrm xmlns:a="http://schemas.openxmlformats.org/drawingml/2006/main">
            <a:off x="3095625" y="35718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에이전트 변경안 작성 후 사람이 차이 검토</a:t>
            </a:r>
          </a:p>
        </p:txBody>
      </p:sp>
      <p:sp>
        <p:nvSpPr>
          <p:cNvPr id="9" name="">
            <a:extLst xmlns:a="http://schemas.openxmlformats.org/drawingml/2006/main">
              <a:ext uri="{FF2B5EF4-FFF2-40B4-BE49-F238E27FC236}">
                <a16:creationId xmlns:a16="http://schemas.microsoft.com/office/drawing/2014/main" id="{04BB3A3E-7036-44E3-AC01-AB6BEC6D92C7}"/>
              </a:ext>
            </a:extLst>
          </p:cNvPr>
          <p:cNvSpPr>
            <a:spLocks xmlns:a="http://schemas.openxmlformats.org/drawingml/2006/main" noGrp="1"/>
          </p:cNvSpPr>
          <p:nvPr/>
        </p:nvSpPr>
        <p:spPr>
          <a:xfrm xmlns:a="http://schemas.openxmlformats.org/drawingml/2006/main">
            <a:off x="723900" y="45243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E83"/>
                </a:solidFill>
                <a:latin typeface="Noto Sans CJK KR"/>
                <a:ea typeface="Noto Sans CJK KR"/>
                <a:cs typeface="Noto Sans CJK KR"/>
              </a:defRPr>
            </a:defPPr>
          </a:lstStyle>
          <a:p xmlns:a="http://schemas.openxmlformats.org/drawingml/2006/main">
            <a:pPr>
              <a:defRPr sz="2025" b="1">
                <a:solidFill>
                  <a:srgbClr val="087E83"/>
                </a:solidFill>
                <a:latin typeface="Noto Sans CJK KR"/>
                <a:ea typeface="Noto Sans CJK KR"/>
                <a:cs typeface="Noto Sans CJK KR"/>
              </a:defRPr>
            </a:pPr>
            <a:r>
              <a:rPr sz="2025" b="1">
                <a:solidFill>
                  <a:srgbClr val="087E83"/>
                </a:solidFill>
                <a:latin typeface="Noto Sans CJK KR"/>
                <a:ea typeface="Noto Sans CJK KR"/>
                <a:cs typeface="Noto Sans CJK KR"/>
              </a:rPr>
              <a:t>확인</a:t>
            </a:r>
          </a:p>
        </p:txBody>
      </p:sp>
      <p:sp>
        <p:nvSpPr>
          <p:cNvPr id="10" name="">
            <a:extLst xmlns:a="http://schemas.openxmlformats.org/drawingml/2006/main">
              <a:ext uri="{FF2B5EF4-FFF2-40B4-BE49-F238E27FC236}">
                <a16:creationId xmlns:a16="http://schemas.microsoft.com/office/drawing/2014/main" id="{FB1FB9C8-4FBD-49CC-9D25-87D658E7D502}"/>
              </a:ext>
            </a:extLst>
          </p:cNvPr>
          <p:cNvSpPr>
            <a:spLocks xmlns:a="http://schemas.openxmlformats.org/drawingml/2006/main" noGrp="1"/>
          </p:cNvSpPr>
          <p:nvPr/>
        </p:nvSpPr>
        <p:spPr>
          <a:xfrm xmlns:a="http://schemas.openxmlformats.org/drawingml/2006/main">
            <a:off x="3095625" y="452437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344"/>
                </a:solidFill>
                <a:latin typeface="Noto Sans CJK KR"/>
                <a:ea typeface="Noto Sans CJK KR"/>
                <a:cs typeface="Noto Sans CJK KR"/>
              </a:defRPr>
            </a:defPPr>
          </a:lstStyle>
          <a:p xmlns:a="http://schemas.openxmlformats.org/drawingml/2006/main">
            <a:pPr>
              <a:defRPr sz="2100" b="0">
                <a:solidFill>
                  <a:srgbClr val="193344"/>
                </a:solidFill>
                <a:latin typeface="Noto Sans CJK KR"/>
                <a:ea typeface="Noto Sans CJK KR"/>
                <a:cs typeface="Noto Sans CJK KR"/>
              </a:defRPr>
            </a:pPr>
            <a:r>
              <a:rPr sz="2100" b="0">
                <a:solidFill>
                  <a:srgbClr val="193344"/>
                </a:solidFill>
                <a:latin typeface="Noto Sans CJK KR"/>
                <a:ea typeface="Noto Sans CJK KR"/>
                <a:cs typeface="Noto Sans CJK KR"/>
              </a:rPr>
              <a:t>동일 질문으로 최신 값과 이전 이력 재검증</a:t>
            </a:r>
          </a:p>
        </p:txBody>
      </p:sp>
      <p:sp>
        <p:nvSpPr>
          <p:cNvPr id="11" name="">
            <a:extLst xmlns:a="http://schemas.openxmlformats.org/drawingml/2006/main">
              <a:ext uri="{FF2B5EF4-FFF2-40B4-BE49-F238E27FC236}">
                <a16:creationId xmlns:a16="http://schemas.microsoft.com/office/drawing/2014/main" id="{AD1420B9-48EC-4F1D-A53D-B3232240AD77}"/>
              </a:ext>
            </a:extLst>
          </p:cNvPr>
          <p:cNvSpPr>
            <a:spLocks xmlns:a="http://schemas.openxmlformats.org/drawingml/2006/main" noGrp="1"/>
          </p:cNvSpPr>
          <p:nvPr/>
        </p:nvSpPr>
        <p:spPr>
          <a:xfrm xmlns:a="http://schemas.openxmlformats.org/drawingml/2006/main">
            <a:off x="723900" y="5715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E83"/>
                </a:solidFill>
                <a:latin typeface="Noto Sans CJK KR"/>
                <a:ea typeface="Noto Sans CJK KR"/>
                <a:cs typeface="Noto Sans CJK KR"/>
              </a:defRPr>
            </a:defPPr>
          </a:lstStyle>
          <a:p xmlns:a="http://schemas.openxmlformats.org/drawingml/2006/main">
            <a:pPr>
              <a:defRPr sz="2100" b="1">
                <a:solidFill>
                  <a:srgbClr val="087E83"/>
                </a:solidFill>
                <a:latin typeface="Noto Sans CJK KR"/>
                <a:ea typeface="Noto Sans CJK KR"/>
                <a:cs typeface="Noto Sans CJK KR"/>
              </a:defRPr>
            </a:pPr>
            <a:r>
              <a:rPr sz="2100" b="1">
                <a:solidFill>
                  <a:srgbClr val="087E83"/>
                </a:solidFill>
                <a:latin typeface="Noto Sans CJK KR"/>
                <a:ea typeface="Noto Sans CJK KR"/>
                <a:cs typeface="Noto Sans CJK KR"/>
              </a:rPr>
              <a:t>핵심 질문: 무엇을 찾았는가? 무엇을 남겼고, 왜 바꾸었는가?</a:t>
            </a:r>
          </a:p>
        </p:txBody>
      </p:sp>
    </p:spTree>
    <p:extLst>
      <p:ext uri="{BB962C8B-B14F-4D97-AF65-F5344CB8AC3E}">
        <p14:creationId xmlns:p14="http://schemas.microsoft.com/office/powerpoint/2010/main" val="833488560"/>
      </p:ext>
    </p:extLst>
  </p:cSld>
</p:sld>
</file>

<file path=ppt/slides/slide1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3575D0-B8F8-4A65-960D-7057578B1B7B}"/>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12C3E"/>
                </a:solidFill>
                <a:latin typeface="Noto Sans CJK KR"/>
                <a:ea typeface="Noto Sans CJK KR"/>
                <a:cs typeface="Noto Sans CJK KR"/>
              </a:defRPr>
            </a:defPPr>
          </a:lstStyle>
          <a:p xmlns:a="http://schemas.openxmlformats.org/drawingml/2006/main">
            <a:pPr>
              <a:defRPr sz="3150" b="1">
                <a:solidFill>
                  <a:srgbClr val="112C3E"/>
                </a:solidFill>
                <a:latin typeface="Noto Sans CJK KR"/>
                <a:ea typeface="Noto Sans CJK KR"/>
                <a:cs typeface="Noto Sans CJK KR"/>
              </a:defRPr>
            </a:pPr>
            <a:r>
              <a:rPr sz="3150" b="1">
                <a:solidFill>
                  <a:srgbClr val="112C3E"/>
                </a:solidFill>
                <a:latin typeface="Noto Sans CJK KR"/>
                <a:ea typeface="Noto Sans CJK KR"/>
                <a:cs typeface="Noto Sans CJK KR"/>
              </a:rPr>
              <a:t>읽을거리와 수업 정리</a:t>
            </a:r>
          </a:p>
        </p:txBody>
      </p:sp>
      <p:sp>
        <p:nvSpPr>
          <p:cNvPr id="2" name="">
            <a:extLst xmlns:a="http://schemas.openxmlformats.org/drawingml/2006/main">
              <a:ext uri="{FF2B5EF4-FFF2-40B4-BE49-F238E27FC236}">
                <a16:creationId xmlns:a16="http://schemas.microsoft.com/office/drawing/2014/main" id="{56F6D190-7CF2-4D50-BFB9-FA8BF7ECA1B3}"/>
              </a:ext>
            </a:extLst>
          </p:cNvPr>
          <p:cNvSpPr>
            <a:spLocks xmlns:a="http://schemas.openxmlformats.org/drawingml/2006/main" noGrp="1"/>
          </p:cNvSpPr>
          <p:nvPr/>
        </p:nvSpPr>
        <p:spPr>
          <a:xfrm xmlns:a="http://schemas.openxmlformats.org/drawingml/2006/main">
            <a:off x="11049000" y="62769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873"/>
                </a:solidFill>
                <a:latin typeface="Noto Sans CJK KR"/>
                <a:ea typeface="Noto Sans CJK KR"/>
                <a:cs typeface="Noto Sans CJK KR"/>
              </a:defRPr>
            </a:defPPr>
          </a:lstStyle>
          <a:p xmlns:a="http://schemas.openxmlformats.org/drawingml/2006/main">
            <a:pPr>
              <a:defRPr sz="1200" b="0">
                <a:solidFill>
                  <a:srgbClr val="516873"/>
                </a:solidFill>
                <a:latin typeface="Noto Sans CJK KR"/>
                <a:ea typeface="Noto Sans CJK KR"/>
                <a:cs typeface="Noto Sans CJK KR"/>
              </a:defRPr>
            </a:pPr>
            <a:r>
              <a:rPr sz="1200" b="0">
                <a:solidFill>
                  <a:srgbClr val="516873"/>
                </a:solidFill>
                <a:latin typeface="Noto Sans CJK KR"/>
                <a:ea typeface="Noto Sans CJK KR"/>
                <a:cs typeface="Noto Sans CJK KR"/>
              </a:rPr>
              <a:t>18</a:t>
            </a:r>
          </a:p>
        </p:txBody>
      </p:sp>
      <p:sp>
        <p:nvSpPr>
          <p:cNvPr id="3" name="">
            <a:extLst xmlns:a="http://schemas.openxmlformats.org/drawingml/2006/main">
              <a:ext uri="{FF2B5EF4-FFF2-40B4-BE49-F238E27FC236}">
                <a16:creationId xmlns:a16="http://schemas.microsoft.com/office/drawing/2014/main" id="{FC71D4E1-48FE-490E-8D84-B4CA659059E2}"/>
              </a:ext>
            </a:extLst>
          </p:cNvPr>
          <p:cNvSpPr>
            <a:spLocks xmlns:a="http://schemas.openxmlformats.org/drawingml/2006/main" noGrp="1"/>
          </p:cNvSpPr>
          <p:nvPr/>
        </p:nvSpPr>
        <p:spPr>
          <a:xfrm xmlns:a="http://schemas.openxmlformats.org/drawingml/2006/main">
            <a:off x="723900" y="16192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1">
                <a:solidFill>
                  <a:srgbClr val="112C3E"/>
                </a:solidFill>
                <a:latin typeface="Noto Sans CJK KR"/>
                <a:ea typeface="Noto Sans CJK KR"/>
                <a:cs typeface="Noto Sans CJK KR"/>
              </a:defRPr>
            </a:defPPr>
          </a:lstStyle>
          <a:p xmlns:a="http://schemas.openxmlformats.org/drawingml/2006/main">
            <a:pPr>
              <a:defRPr sz="3075" b="1">
                <a:solidFill>
                  <a:srgbClr val="112C3E"/>
                </a:solidFill>
                <a:latin typeface="Noto Sans CJK KR"/>
                <a:ea typeface="Noto Sans CJK KR"/>
                <a:cs typeface="Noto Sans CJK KR"/>
              </a:defRPr>
            </a:pPr>
            <a:r>
              <a:rPr sz="3075" b="1">
                <a:solidFill>
                  <a:srgbClr val="112C3E"/>
                </a:solidFill>
                <a:latin typeface="Noto Sans CJK KR"/>
                <a:ea typeface="Noto Sans CJK KR"/>
                <a:cs typeface="Noto Sans CJK KR"/>
              </a:rPr>
              <a:t>출처와 시점을 확인하고,</a:t>
            </a:r>
          </a:p>
          <a:p xmlns:a="http://schemas.openxmlformats.org/drawingml/2006/main">
            <a:pPr>
              <a:defRPr sz="3075" b="1">
                <a:solidFill>
                  <a:srgbClr val="112C3E"/>
                </a:solidFill>
                <a:latin typeface="Noto Sans CJK KR"/>
                <a:ea typeface="Noto Sans CJK KR"/>
                <a:cs typeface="Noto Sans CJK KR"/>
              </a:defRPr>
            </a:pPr>
            <a:r>
              <a:rPr sz="3075" b="1">
                <a:solidFill>
                  <a:srgbClr val="112C3E"/>
                </a:solidFill>
                <a:latin typeface="Noto Sans CJK KR"/>
                <a:ea typeface="Noto Sans CJK KR"/>
                <a:cs typeface="Noto Sans CJK KR"/>
              </a:rPr>
              <a:t>수정 이유를 남기는 기억</a:t>
            </a:r>
          </a:p>
        </p:txBody>
      </p:sp>
      <p:sp>
        <p:nvSpPr>
          <p:cNvPr id="4" name="">
            <a:extLst xmlns:a="http://schemas.openxmlformats.org/drawingml/2006/main">
              <a:ext uri="{FF2B5EF4-FFF2-40B4-BE49-F238E27FC236}">
                <a16:creationId xmlns:a16="http://schemas.microsoft.com/office/drawing/2014/main" id="{E1B6CCE9-49D9-4CAB-BAAA-F0535781F540}"/>
              </a:ext>
            </a:extLst>
          </p:cNvPr>
          <p:cNvSpPr>
            <a:spLocks xmlns:a="http://schemas.openxmlformats.org/drawingml/2006/main" noGrp="1"/>
          </p:cNvSpPr>
          <p:nvPr/>
        </p:nvSpPr>
        <p:spPr>
          <a:xfrm xmlns:a="http://schemas.openxmlformats.org/drawingml/2006/main">
            <a:off x="723900" y="338137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344"/>
                </a:solidFill>
                <a:latin typeface="Noto Sans CJK KR"/>
                <a:ea typeface="Noto Sans CJK KR"/>
                <a:cs typeface="Noto Sans CJK KR"/>
              </a:defRPr>
            </a:defPPr>
          </a:lstStyle>
          <a:p xmlns:a="http://schemas.openxmlformats.org/drawingml/2006/main">
            <a:pPr>
              <a:defRPr sz="2025" b="0">
                <a:solidFill>
                  <a:srgbClr val="193344"/>
                </a:solidFill>
                <a:latin typeface="Noto Sans CJK KR"/>
                <a:ea typeface="Noto Sans CJK KR"/>
                <a:cs typeface="Noto Sans CJK KR"/>
              </a:defRPr>
            </a:pPr>
            <a:r>
              <a:rPr sz="2025" b="0">
                <a:solidFill>
                  <a:srgbClr val="193344"/>
                </a:solidFill>
                <a:latin typeface="Noto Sans CJK KR"/>
                <a:ea typeface="Noto Sans CJK KR"/>
                <a:cs typeface="Noto Sans CJK KR"/>
              </a:rPr>
              <a:t>Lewis et al. (2020)  Retrieval-Augmented Generation</a:t>
            </a:r>
          </a:p>
          <a:p xmlns:a="http://schemas.openxmlformats.org/drawingml/2006/main">
            <a:pPr>
              <a:defRPr sz="2025" b="0">
                <a:solidFill>
                  <a:srgbClr val="193344"/>
                </a:solidFill>
                <a:latin typeface="Noto Sans CJK KR"/>
                <a:ea typeface="Noto Sans CJK KR"/>
                <a:cs typeface="Noto Sans CJK KR"/>
              </a:defRPr>
            </a:pPr>
            <a:r>
              <a:rPr sz="2025" b="0">
                <a:solidFill>
                  <a:srgbClr val="193344"/>
                </a:solidFill>
                <a:latin typeface="Noto Sans CJK KR"/>
                <a:ea typeface="Noto Sans CJK KR"/>
                <a:cs typeface="Noto Sans CJK KR"/>
              </a:rPr>
              <a:t>Karpathy (2026)  LLM Wiki, GitHub Gist</a:t>
            </a:r>
          </a:p>
          <a:p xmlns:a="http://schemas.openxmlformats.org/drawingml/2006/main">
            <a:pPr>
              <a:defRPr sz="2025" b="0">
                <a:solidFill>
                  <a:srgbClr val="193344"/>
                </a:solidFill>
                <a:latin typeface="Noto Sans CJK KR"/>
                <a:ea typeface="Noto Sans CJK KR"/>
                <a:cs typeface="Noto Sans CJK KR"/>
              </a:defRPr>
            </a:pPr>
            <a:r>
              <a:rPr sz="2025" b="0">
                <a:solidFill>
                  <a:srgbClr val="193344"/>
                </a:solidFill>
                <a:latin typeface="Noto Sans CJK KR"/>
                <a:ea typeface="Noto Sans CJK KR"/>
                <a:cs typeface="Noto Sans CJK KR"/>
              </a:rPr>
              <a:t>Packer et al. (2023)  MemGPT</a:t>
            </a:r>
          </a:p>
          <a:p xmlns:a="http://schemas.openxmlformats.org/drawingml/2006/main">
            <a:pPr>
              <a:defRPr sz="2025" b="0">
                <a:solidFill>
                  <a:srgbClr val="193344"/>
                </a:solidFill>
                <a:latin typeface="Noto Sans CJK KR"/>
                <a:ea typeface="Noto Sans CJK KR"/>
                <a:cs typeface="Noto Sans CJK KR"/>
              </a:defRPr>
            </a:pPr>
            <a:r>
              <a:rPr sz="2025" b="0">
                <a:solidFill>
                  <a:srgbClr val="193344"/>
                </a:solidFill>
                <a:latin typeface="Noto Sans CJK KR"/>
                <a:ea typeface="Noto Sans CJK KR"/>
                <a:cs typeface="Noto Sans CJK KR"/>
              </a:rPr>
              <a:t>Obsidian Help  Files, Links, Backlinks, Search, Graph</a:t>
            </a:r>
          </a:p>
          <a:p xmlns:a="http://schemas.openxmlformats.org/drawingml/2006/main">
            <a:pPr>
              <a:defRPr sz="2025" b="0">
                <a:solidFill>
                  <a:srgbClr val="193344"/>
                </a:solidFill>
                <a:latin typeface="Noto Sans CJK KR"/>
                <a:ea typeface="Noto Sans CJK KR"/>
                <a:cs typeface="Noto Sans CJK KR"/>
              </a:defRPr>
            </a:pPr>
            <a:r>
              <a:rPr sz="2025" b="0">
                <a:solidFill>
                  <a:srgbClr val="193344"/>
                </a:solidFill>
                <a:latin typeface="Noto Sans CJK KR"/>
                <a:ea typeface="Noto Sans CJK KR"/>
                <a:cs typeface="Noto Sans CJK KR"/>
              </a:rPr>
              <a:t>Pro Git  About Version Control</a:t>
            </a:r>
          </a:p>
        </p:txBody>
      </p:sp>
      <p:sp>
        <p:nvSpPr>
          <p:cNvPr id="5" name="">
            <a:extLst xmlns:a="http://schemas.openxmlformats.org/drawingml/2006/main">
              <a:ext uri="{FF2B5EF4-FFF2-40B4-BE49-F238E27FC236}">
                <a16:creationId xmlns:a16="http://schemas.microsoft.com/office/drawing/2014/main" id="{19C8CAF7-DAF6-4679-84C0-B20081C9D898}"/>
              </a:ext>
            </a:extLst>
          </p:cNvPr>
          <p:cNvSpPr>
            <a:spLocks xmlns:a="http://schemas.openxmlformats.org/drawingml/2006/main" noGrp="1"/>
          </p:cNvSpPr>
          <p:nvPr/>
        </p:nvSpPr>
        <p:spPr>
          <a:xfrm xmlns:a="http://schemas.openxmlformats.org/drawingml/2006/main">
            <a:off x="723900" y="60007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16873"/>
                </a:solidFill>
                <a:latin typeface="Noto Sans CJK KR"/>
                <a:ea typeface="Noto Sans CJK KR"/>
                <a:cs typeface="Noto Sans CJK KR"/>
              </a:defRPr>
            </a:defPPr>
          </a:lstStyle>
          <a:p xmlns:a="http://schemas.openxmlformats.org/drawingml/2006/main">
            <a:pPr>
              <a:defRPr sz="1575" b="0">
                <a:solidFill>
                  <a:srgbClr val="516873"/>
                </a:solidFill>
                <a:latin typeface="Noto Sans CJK KR"/>
                <a:ea typeface="Noto Sans CJK KR"/>
                <a:cs typeface="Noto Sans CJK KR"/>
              </a:defRPr>
            </a:pPr>
            <a:r>
              <a:rPr sz="1575" b="0">
                <a:solidFill>
                  <a:srgbClr val="516873"/>
                </a:solidFill>
                <a:latin typeface="Noto Sans CJK KR"/>
                <a:ea typeface="Noto Sans CJK KR"/>
                <a:cs typeface="Noto Sans CJK KR"/>
              </a:rPr>
              <a:t>원문 링크는 발표자 노트에 수록</a:t>
            </a:r>
          </a:p>
        </p:txBody>
      </p:sp>
    </p:spTree>
    <p:extLst>
      <p:ext uri="{BB962C8B-B14F-4D97-AF65-F5344CB8AC3E}">
        <p14:creationId xmlns:p14="http://schemas.microsoft.com/office/powerpoint/2010/main" val="4024518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CJK KR"/>
        <a:ea typeface=""/>
        <a:cs typeface=""/>
      </a:majorFont>
      <a:minorFont>
        <a:latin typeface="Noto Sans CJK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2026-10-14T10:53:49.9380000Z</dcterms:created>
  <dcterms:modified xsi:type="dcterms:W3CDTF">2026-10-14T10:53:49.9380000Z</dcterms:modified>
</coreProperties>
</file>