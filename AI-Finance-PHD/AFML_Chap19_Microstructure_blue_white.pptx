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5E97"/>
          </a:solidFill>
          <a:ln w="12700">
            <a:solidFill>
              <a:srgbClr val="1F5E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7FAFD"/>
          </a:solidFill>
          <a:ln w="12700">
            <a:solidFill>
              <a:srgbClr val="E4EEF8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5683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97887"/>
                </a:solidFill>
              </a:rPr>
              <a:t>AFML · Chapter 19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2128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5E97"/>
                </a:solidFill>
              </a:rPr>
              <a:t>Microstructure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962656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F5B66"/>
                </a:solidFill>
              </a:rPr>
              <a:t>Advanced Financial Machine Learning · Chapter 19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880360" y="3511296"/>
            <a:ext cx="6446520" cy="0"/>
          </a:xfrm>
          <a:prstGeom prst="line">
            <a:avLst/>
          </a:prstGeom>
          <a:noFill/>
          <a:ln w="25400">
            <a:solidFill>
              <a:srgbClr val="A8C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79476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263746"/>
                </a:solidFill>
              </a:rPr>
              <a:t>Trades · Quotes · Order Flow · Liquidity Risk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16047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5" name="Text 3"/>
          <p:cNvSpPr/>
          <p:nvPr/>
        </p:nvSpPr>
        <p:spPr>
          <a:xfrm>
            <a:off x="1307592" y="1572768"/>
            <a:ext cx="99669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What microstructure data are and why they matter for ML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987552" y="20894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1307592" y="2057400"/>
            <a:ext cx="99669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Trading rules: orders, order-driven systems, quote-driven systems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987552" y="257403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1307592" y="2542032"/>
            <a:ext cx="99669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Feature generations: price, volume, private-information models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987552" y="30586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1307592" y="3026664"/>
            <a:ext cx="99669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Key measures: Roll spread, Kyle λ, Amihud/Hasbrouck λ, PIN/VPIN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987552" y="35433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13" name="Text 11"/>
          <p:cNvSpPr/>
          <p:nvPr/>
        </p:nvSpPr>
        <p:spPr>
          <a:xfrm>
            <a:off x="1307592" y="3511296"/>
            <a:ext cx="99669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Additional features: cancellation, round lots, TWAP/VWAP, options</a:t>
            </a:r>
            <a:endParaRPr lang="en-US" sz="1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 and data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16413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0" dirty="0">
                <a:solidFill>
                  <a:srgbClr val="1F5E97"/>
                </a:solidFill>
              </a:rPr>
              <a:t>•</a:t>
            </a:r>
            <a:endParaRPr lang="en-US" sz="1760" dirty="0"/>
          </a:p>
        </p:txBody>
      </p:sp>
      <p:sp>
        <p:nvSpPr>
          <p:cNvPr id="5" name="Text 3"/>
          <p:cNvSpPr/>
          <p:nvPr/>
        </p:nvSpPr>
        <p:spPr>
          <a:xfrm>
            <a:off x="1307592" y="1609344"/>
            <a:ext cx="99669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263746"/>
                </a:solidFill>
              </a:rPr>
              <a:t>Market microstructure studies the process and outcomes of exchanging assets under explicit trading rules.</a:t>
            </a:r>
            <a:endParaRPr lang="en-US" sz="1760" dirty="0"/>
          </a:p>
        </p:txBody>
      </p:sp>
      <p:sp>
        <p:nvSpPr>
          <p:cNvPr id="6" name="Text 4"/>
          <p:cNvSpPr/>
          <p:nvPr/>
        </p:nvSpPr>
        <p:spPr>
          <a:xfrm>
            <a:off x="987552" y="220827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0" dirty="0">
                <a:solidFill>
                  <a:srgbClr val="1F5E97"/>
                </a:solidFill>
              </a:rPr>
              <a:t>•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1307592" y="2176272"/>
            <a:ext cx="99669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263746"/>
                </a:solidFill>
              </a:rPr>
              <a:t>Useful data include order cancellations, double-auction books, queues, partial fills, corrections, and replacements.</a:t>
            </a:r>
            <a:endParaRPr lang="en-US" sz="1760" dirty="0"/>
          </a:p>
        </p:txBody>
      </p:sp>
      <p:sp>
        <p:nvSpPr>
          <p:cNvPr id="8" name="Text 6"/>
          <p:cNvSpPr/>
          <p:nvPr/>
        </p:nvSpPr>
        <p:spPr>
          <a:xfrm>
            <a:off x="987552" y="27752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0" dirty="0">
                <a:solidFill>
                  <a:srgbClr val="1F5E97"/>
                </a:solidFill>
              </a:rPr>
              <a:t>•</a:t>
            </a:r>
            <a:endParaRPr lang="en-US" sz="1760" dirty="0"/>
          </a:p>
        </p:txBody>
      </p:sp>
      <p:sp>
        <p:nvSpPr>
          <p:cNvPr id="9" name="Text 7"/>
          <p:cNvSpPr/>
          <p:nvPr/>
        </p:nvSpPr>
        <p:spPr>
          <a:xfrm>
            <a:off x="1307592" y="2743200"/>
            <a:ext cx="99669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263746"/>
                </a:solidFill>
              </a:rPr>
              <a:t>Queues are effective orders that have not yet been cancelled.</a:t>
            </a:r>
            <a:endParaRPr lang="en-US" sz="1760" dirty="0"/>
          </a:p>
        </p:txBody>
      </p:sp>
      <p:sp>
        <p:nvSpPr>
          <p:cNvPr id="10" name="Shape 8"/>
          <p:cNvSpPr/>
          <p:nvPr/>
        </p:nvSpPr>
        <p:spPr>
          <a:xfrm>
            <a:off x="987552" y="4434840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4544568"/>
            <a:ext cx="9820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Why ML cares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2144" y="4873752"/>
            <a:ext cx="98206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746"/>
                </a:solidFill>
              </a:rPr>
              <a:t>Microstructure data capture how traders reveal or conceal intentions before those intentions appear in slower price data.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 messages as source data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16779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5E97"/>
                </a:solidFill>
              </a:rPr>
              <a:t>•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307592" y="1645920"/>
            <a:ext cx="99212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63746"/>
                </a:solidFill>
              </a:rPr>
              <a:t>FIX means Financial Information eXchange.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87552" y="220827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5E97"/>
                </a:solidFill>
              </a:rPr>
              <a:t>•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307592" y="2176272"/>
            <a:ext cx="99212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63746"/>
                </a:solidFill>
              </a:rPr>
              <a:t>FIX messages provide detailed traces of orders, amendments, cancellations, and executions.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87552" y="27386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5E97"/>
                </a:solidFill>
              </a:rPr>
              <a:t>•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307592" y="2706624"/>
            <a:ext cx="99212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63746"/>
                </a:solidFill>
              </a:rPr>
              <a:t>That detail helps researchers infer how market participants conceal and reveal their intentions.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87552" y="32689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5E97"/>
                </a:solidFill>
              </a:rPr>
              <a:t>•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307592" y="3236976"/>
            <a:ext cx="99212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63746"/>
                </a:solidFill>
              </a:rPr>
              <a:t>Microstructural data are among the most important ingredients for predictive ML features.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order types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50876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618488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Market order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33272" y="1947672"/>
            <a:ext cx="300837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746"/>
                </a:solidFill>
              </a:rPr>
              <a:t>Specifies quantity to buy or sell at the available market price.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434840" y="150876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618488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Limit order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99432" y="1947672"/>
            <a:ext cx="300837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746"/>
                </a:solidFill>
              </a:rPr>
              <a:t>Specifies quantity and a limit price: sell above or buy below that price.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01000" y="150876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5592" y="1618488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Stop order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165592" y="1947672"/>
            <a:ext cx="300837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746"/>
                </a:solidFill>
              </a:rPr>
              <a:t>Like a limit order with inverted trigger logic; used to stop losses or enter after a threshold.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E97"/>
                </a:solidFill>
              </a:rPr>
              <a:t>Order type determines information leakage, immediacy, and execution risk.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Order-driven trading system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236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dirty="0">
                <a:solidFill>
                  <a:srgbClr val="1F5E97"/>
                </a:solidFill>
              </a:rPr>
              <a:t>•</a:t>
            </a:r>
            <a:endParaRPr lang="en-US" sz="1780" dirty="0"/>
          </a:p>
        </p:txBody>
      </p:sp>
      <p:sp>
        <p:nvSpPr>
          <p:cNvPr id="5" name="Text 3"/>
          <p:cNvSpPr/>
          <p:nvPr/>
        </p:nvSpPr>
        <p:spPr>
          <a:xfrm>
            <a:off x="1325880" y="169164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263746"/>
                </a:solidFill>
              </a:rPr>
              <a:t>Traders place orders before prices are set by a market maker, auction, or centralized mechanism.</a:t>
            </a:r>
            <a:endParaRPr lang="en-US" sz="1780" dirty="0"/>
          </a:p>
        </p:txBody>
      </p:sp>
      <p:sp>
        <p:nvSpPr>
          <p:cNvPr id="6" name="Text 4"/>
          <p:cNvSpPr/>
          <p:nvPr/>
        </p:nvSpPr>
        <p:spPr>
          <a:xfrm>
            <a:off x="1005840" y="22905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dirty="0">
                <a:solidFill>
                  <a:srgbClr val="1F5E97"/>
                </a:solidFill>
              </a:rPr>
              <a:t>•</a:t>
            </a:r>
            <a:endParaRPr lang="en-US" sz="1780" dirty="0"/>
          </a:p>
        </p:txBody>
      </p:sp>
      <p:sp>
        <p:nvSpPr>
          <p:cNvPr id="7" name="Text 5"/>
          <p:cNvSpPr/>
          <p:nvPr/>
        </p:nvSpPr>
        <p:spPr>
          <a:xfrm>
            <a:off x="1325880" y="2258568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263746"/>
                </a:solidFill>
              </a:rPr>
              <a:t>Trading can be continuous or batched at discrete intervals.</a:t>
            </a:r>
            <a:endParaRPr lang="en-US" sz="1780" dirty="0"/>
          </a:p>
        </p:txBody>
      </p:sp>
      <p:sp>
        <p:nvSpPr>
          <p:cNvPr id="8" name="Text 6"/>
          <p:cNvSpPr/>
          <p:nvPr/>
        </p:nvSpPr>
        <p:spPr>
          <a:xfrm>
            <a:off x="1005840" y="28575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dirty="0">
                <a:solidFill>
                  <a:srgbClr val="1F5E97"/>
                </a:solidFill>
              </a:rPr>
              <a:t>•</a:t>
            </a:r>
            <a:endParaRPr lang="en-US" sz="1780" dirty="0"/>
          </a:p>
        </p:txBody>
      </p:sp>
      <p:sp>
        <p:nvSpPr>
          <p:cNvPr id="9" name="Text 7"/>
          <p:cNvSpPr/>
          <p:nvPr/>
        </p:nvSpPr>
        <p:spPr>
          <a:xfrm>
            <a:off x="1325880" y="2825496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263746"/>
                </a:solidFill>
              </a:rPr>
              <a:t>A batch auction may open the market before continuous trading begins.</a:t>
            </a:r>
            <a:endParaRPr lang="en-US" sz="1780" dirty="0"/>
          </a:p>
        </p:txBody>
      </p:sp>
      <p:sp>
        <p:nvSpPr>
          <p:cNvPr id="10" name="Shape 8"/>
          <p:cNvSpPr/>
          <p:nvPr/>
        </p:nvSpPr>
        <p:spPr>
          <a:xfrm>
            <a:off x="1005840" y="4251960"/>
            <a:ext cx="10058400" cy="868680"/>
          </a:xfrm>
          <a:prstGeom prst="roundRect">
            <a:avLst>
              <a:gd name="adj" fmla="val 8421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4361688"/>
            <a:ext cx="9729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Interpretation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70432" y="4690872"/>
            <a:ext cx="97292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263746"/>
                </a:solidFill>
              </a:rPr>
              <a:t>Order-driven systems have a signaling flavor: informed traders move first by submitting orders.</a:t>
            </a:r>
            <a:endParaRPr lang="en-US" sz="1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Quote-driven trading system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236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dirty="0">
                <a:solidFill>
                  <a:srgbClr val="1F5E97"/>
                </a:solidFill>
              </a:rPr>
              <a:t>•</a:t>
            </a:r>
            <a:endParaRPr lang="en-US" sz="1780" dirty="0"/>
          </a:p>
        </p:txBody>
      </p:sp>
      <p:sp>
        <p:nvSpPr>
          <p:cNvPr id="5" name="Text 3"/>
          <p:cNvSpPr/>
          <p:nvPr/>
        </p:nvSpPr>
        <p:spPr>
          <a:xfrm>
            <a:off x="1325880" y="169164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263746"/>
                </a:solidFill>
              </a:rPr>
              <a:t>Market makers set bid and ask prices.</a:t>
            </a:r>
            <a:endParaRPr lang="en-US" sz="1780" dirty="0"/>
          </a:p>
        </p:txBody>
      </p:sp>
      <p:sp>
        <p:nvSpPr>
          <p:cNvPr id="6" name="Text 4"/>
          <p:cNvSpPr/>
          <p:nvPr/>
        </p:nvSpPr>
        <p:spPr>
          <a:xfrm>
            <a:off x="1005840" y="22905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dirty="0">
                <a:solidFill>
                  <a:srgbClr val="1F5E97"/>
                </a:solidFill>
              </a:rPr>
              <a:t>•</a:t>
            </a:r>
            <a:endParaRPr lang="en-US" sz="1780" dirty="0"/>
          </a:p>
        </p:txBody>
      </p:sp>
      <p:sp>
        <p:nvSpPr>
          <p:cNvPr id="7" name="Text 5"/>
          <p:cNvSpPr/>
          <p:nvPr/>
        </p:nvSpPr>
        <p:spPr>
          <a:xfrm>
            <a:off x="1325880" y="2258568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263746"/>
                </a:solidFill>
              </a:rPr>
              <a:t>Traders then submit orders against those quoted prices.</a:t>
            </a:r>
            <a:endParaRPr lang="en-US" sz="1780" dirty="0"/>
          </a:p>
        </p:txBody>
      </p:sp>
      <p:sp>
        <p:nvSpPr>
          <p:cNvPr id="8" name="Text 6"/>
          <p:cNvSpPr/>
          <p:nvPr/>
        </p:nvSpPr>
        <p:spPr>
          <a:xfrm>
            <a:off x="1005840" y="28575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dirty="0">
                <a:solidFill>
                  <a:srgbClr val="1F5E97"/>
                </a:solidFill>
              </a:rPr>
              <a:t>•</a:t>
            </a:r>
            <a:endParaRPr lang="en-US" sz="1780" dirty="0"/>
          </a:p>
        </p:txBody>
      </p:sp>
      <p:sp>
        <p:nvSpPr>
          <p:cNvPr id="9" name="Text 7"/>
          <p:cNvSpPr/>
          <p:nvPr/>
        </p:nvSpPr>
        <p:spPr>
          <a:xfrm>
            <a:off x="1325880" y="2825496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263746"/>
                </a:solidFill>
              </a:rPr>
              <a:t>In a continuous dealer market, traders can obtain immediate execution from the market maker.</a:t>
            </a:r>
            <a:endParaRPr lang="en-US" sz="1780" dirty="0"/>
          </a:p>
        </p:txBody>
      </p:sp>
      <p:sp>
        <p:nvSpPr>
          <p:cNvPr id="10" name="Shape 8"/>
          <p:cNvSpPr/>
          <p:nvPr/>
        </p:nvSpPr>
        <p:spPr>
          <a:xfrm>
            <a:off x="1005840" y="4251960"/>
            <a:ext cx="10058400" cy="868680"/>
          </a:xfrm>
          <a:prstGeom prst="roundRect">
            <a:avLst>
              <a:gd name="adj" fmla="val 8421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4361688"/>
            <a:ext cx="9729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Interpretation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70432" y="4690872"/>
            <a:ext cx="97292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263746"/>
                </a:solidFill>
              </a:rPr>
              <a:t>Quote-driven systems have a screening flavor: the uninformed liquidity supplier posts prices first.</a:t>
            </a:r>
            <a:endParaRPr lang="en-US" sz="1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maker adverse selection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7452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BD2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984248"/>
            <a:ext cx="2980944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746"/>
                </a:solidFill>
              </a:rPr>
              <a:t>Informed traders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63746"/>
                </a:solidFill>
              </a:rPr>
              <a:t>may know return-relevant news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69080" y="2350008"/>
            <a:ext cx="1005840" cy="0"/>
          </a:xfrm>
          <a:prstGeom prst="line">
            <a:avLst/>
          </a:prstGeom>
          <a:noFill/>
          <a:ln w="15240">
            <a:solidFill>
              <a:srgbClr val="6F9FC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74920" y="187452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BD2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84648" y="1984248"/>
            <a:ext cx="2980944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746"/>
                </a:solidFill>
              </a:rPr>
              <a:t>Market maker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63746"/>
                </a:solidFill>
              </a:rPr>
              <a:t>cannot perfectly distinguish flow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21040" y="2350008"/>
            <a:ext cx="1005840" cy="0"/>
          </a:xfrm>
          <a:prstGeom prst="line">
            <a:avLst/>
          </a:prstGeom>
          <a:noFill/>
          <a:ln w="15240">
            <a:solidFill>
              <a:srgbClr val="6F9FC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326880" y="18745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BD2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36608" y="1984248"/>
            <a:ext cx="1792224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63746"/>
                </a:solidFill>
              </a:rPr>
              <a:t>Bid–ask spread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263746"/>
                </a:solidFill>
              </a:rPr>
              <a:t>protects against losses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87552" y="40096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30" dirty="0">
                <a:solidFill>
                  <a:srgbClr val="1F5E97"/>
                </a:solidFill>
              </a:rPr>
              <a:t>•</a:t>
            </a:r>
            <a:endParaRPr lang="en-US" sz="1730" dirty="0"/>
          </a:p>
        </p:txBody>
      </p:sp>
      <p:sp>
        <p:nvSpPr>
          <p:cNvPr id="13" name="Text 11"/>
          <p:cNvSpPr/>
          <p:nvPr/>
        </p:nvSpPr>
        <p:spPr>
          <a:xfrm>
            <a:off x="1307592" y="3977640"/>
            <a:ext cx="99212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263746"/>
                </a:solidFill>
              </a:rPr>
              <a:t>The problem is not execution itself; it is trading against better-informed counterparties.</a:t>
            </a:r>
            <a:endParaRPr lang="en-US" sz="1730" dirty="0"/>
          </a:p>
        </p:txBody>
      </p:sp>
      <p:sp>
        <p:nvSpPr>
          <p:cNvPr id="14" name="Text 12"/>
          <p:cNvSpPr/>
          <p:nvPr/>
        </p:nvSpPr>
        <p:spPr>
          <a:xfrm>
            <a:off x="987552" y="453999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30" dirty="0">
                <a:solidFill>
                  <a:srgbClr val="1F5E97"/>
                </a:solidFill>
              </a:rPr>
              <a:t>•</a:t>
            </a:r>
            <a:endParaRPr lang="en-US" sz="1730" dirty="0"/>
          </a:p>
        </p:txBody>
      </p:sp>
      <p:sp>
        <p:nvSpPr>
          <p:cNvPr id="15" name="Text 13"/>
          <p:cNvSpPr/>
          <p:nvPr/>
        </p:nvSpPr>
        <p:spPr>
          <a:xfrm>
            <a:off x="1307592" y="4507992"/>
            <a:ext cx="99212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263746"/>
                </a:solidFill>
              </a:rPr>
              <a:t>Microstructure features try to estimate this hidden information risk.</a:t>
            </a:r>
            <a:endParaRPr lang="en-US" sz="1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generations of features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27632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737360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1st generation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41832" y="2066544"/>
            <a:ext cx="3099816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746"/>
                </a:solidFill>
              </a:rPr>
              <a:t>Price data: tick rule, Roll model, high–low volatility, Corwin–Schultz spread.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1627632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737360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2nd generation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53712" y="2066544"/>
            <a:ext cx="3099816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746"/>
                </a:solidFill>
              </a:rPr>
              <a:t>Price and volume: signed volume, order-flow imbalance, Kyle/Amihud/Hasbrouck λ.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01000" y="1627632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5592" y="1737360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3rd generation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165592" y="2066544"/>
            <a:ext cx="3099816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746"/>
                </a:solidFill>
              </a:rPr>
              <a:t>Private information and sequential trading: PIN and VPIN.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59028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E97"/>
                </a:solidFill>
              </a:rPr>
              <a:t>Feature design moves from observed price to inferred strategic behavior.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871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5E97"/>
                </a:solidFill>
              </a:rPr>
              <a:t>First generation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834640" y="3127248"/>
            <a:ext cx="6537960" cy="0"/>
          </a:xfrm>
          <a:prstGeom prst="line">
            <a:avLst/>
          </a:prstGeom>
          <a:noFill/>
          <a:ln w="25400">
            <a:solidFill>
              <a:srgbClr val="A8C9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34015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4F5B66"/>
                </a:solidFill>
              </a:rPr>
              <a:t>Features built mostly from transaction prices and high–low data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Tick rule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779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0" dirty="0">
                <a:solidFill>
                  <a:srgbClr val="1F5E97"/>
                </a:solidFill>
              </a:rPr>
              <a:t>•</a:t>
            </a:r>
            <a:endParaRPr lang="en-US" sz="1760" dirty="0"/>
          </a:p>
        </p:txBody>
      </p:sp>
      <p:sp>
        <p:nvSpPr>
          <p:cNvPr id="5" name="Text 3"/>
          <p:cNvSpPr/>
          <p:nvPr/>
        </p:nvSpPr>
        <p:spPr>
          <a:xfrm>
            <a:off x="1325880" y="164592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263746"/>
                </a:solidFill>
              </a:rPr>
              <a:t>A price uptick is classified as buyer-initiated.</a:t>
            </a:r>
            <a:endParaRPr lang="en-US" sz="1760" dirty="0"/>
          </a:p>
        </p:txBody>
      </p:sp>
      <p:sp>
        <p:nvSpPr>
          <p:cNvPr id="6" name="Text 4"/>
          <p:cNvSpPr/>
          <p:nvPr/>
        </p:nvSpPr>
        <p:spPr>
          <a:xfrm>
            <a:off x="1005840" y="220827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0" dirty="0">
                <a:solidFill>
                  <a:srgbClr val="1F5E97"/>
                </a:solidFill>
              </a:rPr>
              <a:t>•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1325880" y="2176272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263746"/>
                </a:solidFill>
              </a:rPr>
              <a:t>A price downtick is classified as seller-initiated.</a:t>
            </a:r>
            <a:endParaRPr lang="en-US" sz="1760" dirty="0"/>
          </a:p>
        </p:txBody>
      </p:sp>
      <p:sp>
        <p:nvSpPr>
          <p:cNvPr id="8" name="Text 6"/>
          <p:cNvSpPr/>
          <p:nvPr/>
        </p:nvSpPr>
        <p:spPr>
          <a:xfrm>
            <a:off x="1005840" y="27386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0" dirty="0">
                <a:solidFill>
                  <a:srgbClr val="1F5E97"/>
                </a:solidFill>
              </a:rPr>
              <a:t>•</a:t>
            </a:r>
            <a:endParaRPr lang="en-US" sz="1760" dirty="0"/>
          </a:p>
        </p:txBody>
      </p:sp>
      <p:sp>
        <p:nvSpPr>
          <p:cNvPr id="9" name="Text 7"/>
          <p:cNvSpPr/>
          <p:nvPr/>
        </p:nvSpPr>
        <p:spPr>
          <a:xfrm>
            <a:off x="1325880" y="2706624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263746"/>
                </a:solidFill>
              </a:rPr>
              <a:t>If price does not change, carry forward the previous sign.</a:t>
            </a:r>
            <a:endParaRPr lang="en-US" sz="1760" dirty="0"/>
          </a:p>
        </p:txBody>
      </p:sp>
      <p:sp>
        <p:nvSpPr>
          <p:cNvPr id="10" name="Text 8"/>
          <p:cNvSpPr/>
          <p:nvPr/>
        </p:nvSpPr>
        <p:spPr>
          <a:xfrm>
            <a:off x="868680" y="3886200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263746"/>
                </a:solidFill>
              </a:rPr>
              <a:t>bₜ = 1 if Δpₜ &gt; 0;  bₜ = −1 if Δpₜ &lt; 0;  bₜ = bₜ₋₁ if Δpₜ = 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05840" y="4892040"/>
            <a:ext cx="10058400" cy="713232"/>
          </a:xfrm>
          <a:prstGeom prst="roundRect">
            <a:avLst>
              <a:gd name="adj" fmla="val 10256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5001768"/>
            <a:ext cx="9729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Why useful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70432" y="5330952"/>
            <a:ext cx="97292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63746"/>
                </a:solidFill>
              </a:rPr>
              <a:t>Even a simple trade-sign rule can become powerful after transformation: autocorrelation, entropy, structural breaks, or filtering.</a:t>
            </a:r>
            <a:endParaRPr lang="en-US" sz="14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Roll model: intuition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322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0" dirty="0">
                <a:solidFill>
                  <a:srgbClr val="1F5E97"/>
                </a:solidFill>
              </a:rPr>
              <a:t>•</a:t>
            </a:r>
            <a:endParaRPr lang="en-US" sz="176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263746"/>
                </a:solidFill>
              </a:rPr>
              <a:t>Let mₜ be the unobserved efficient mid-price.</a:t>
            </a:r>
            <a:endParaRPr lang="en-US" sz="1760" dirty="0"/>
          </a:p>
        </p:txBody>
      </p:sp>
      <p:sp>
        <p:nvSpPr>
          <p:cNvPr id="6" name="Text 4"/>
          <p:cNvSpPr/>
          <p:nvPr/>
        </p:nvSpPr>
        <p:spPr>
          <a:xfrm>
            <a:off x="1005840" y="21625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0" dirty="0">
                <a:solidFill>
                  <a:srgbClr val="1F5E97"/>
                </a:solidFill>
              </a:rPr>
              <a:t>•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1325880" y="2130552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263746"/>
                </a:solidFill>
              </a:rPr>
              <a:t>Observed transaction price alternates around the mid-price because trades hit bid or ask.</a:t>
            </a:r>
            <a:endParaRPr lang="en-US" sz="1760" dirty="0"/>
          </a:p>
        </p:txBody>
      </p:sp>
      <p:sp>
        <p:nvSpPr>
          <p:cNvPr id="8" name="Text 6"/>
          <p:cNvSpPr/>
          <p:nvPr/>
        </p:nvSpPr>
        <p:spPr>
          <a:xfrm>
            <a:off x="1005840" y="26929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0" dirty="0">
                <a:solidFill>
                  <a:srgbClr val="1F5E97"/>
                </a:solidFill>
              </a:rPr>
              <a:t>•</a:t>
            </a:r>
            <a:endParaRPr lang="en-US" sz="1760" dirty="0"/>
          </a:p>
        </p:txBody>
      </p:sp>
      <p:sp>
        <p:nvSpPr>
          <p:cNvPr id="9" name="Text 7"/>
          <p:cNvSpPr/>
          <p:nvPr/>
        </p:nvSpPr>
        <p:spPr>
          <a:xfrm>
            <a:off x="1325880" y="2660904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263746"/>
                </a:solidFill>
              </a:rPr>
              <a:t>This bid–ask bounce creates negative serial covariance in price changes.</a:t>
            </a:r>
            <a:endParaRPr lang="en-US" sz="176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63746"/>
                </a:solidFill>
              </a:rPr>
              <a:t>pₜ = mₜ + bₜ c,      c = BAS / 2,      bₜ ∈ {−1, 1}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Roll model: empirical feature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263746"/>
                </a:solidFill>
              </a:rPr>
              <a:t>Δpₜ = uₜ + c(bₜ − bₜ₋₁)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68680" y="2514600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263746"/>
                </a:solidFill>
              </a:rPr>
              <a:t>E(Δpₜ Δpₜ₋₁) = −c²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68680" y="3703320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263746"/>
                </a:solidFill>
              </a:rPr>
              <a:t>effective BAS proxy ≈ 2 √max(−Cov(Δpₜ, Δpₜ₋₁), 0)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05840" y="4892040"/>
            <a:ext cx="10058400" cy="713232"/>
          </a:xfrm>
          <a:prstGeom prst="roundRect">
            <a:avLst>
              <a:gd name="adj" fmla="val 10256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5001768"/>
            <a:ext cx="9729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Use in ML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70432" y="5330952"/>
            <a:ext cx="97292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746"/>
                </a:solidFill>
              </a:rPr>
              <a:t>Roll-type estimates summarize liquidity and transaction-cost conditions when direct order-book data are absent.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Extended Roll model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322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1F5E97"/>
                </a:solidFill>
              </a:rPr>
              <a:t>•</a:t>
            </a:r>
            <a:endParaRPr lang="en-US" sz="174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97383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263746"/>
                </a:solidFill>
              </a:rPr>
              <a:t>The spread can be decomposed into inventory and asymmetric-information components.</a:t>
            </a:r>
            <a:endParaRPr lang="en-US" sz="1740" dirty="0"/>
          </a:p>
        </p:txBody>
      </p:sp>
      <p:sp>
        <p:nvSpPr>
          <p:cNvPr id="6" name="Text 4"/>
          <p:cNvSpPr/>
          <p:nvPr/>
        </p:nvSpPr>
        <p:spPr>
          <a:xfrm>
            <a:off x="1005840" y="21625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1F5E97"/>
                </a:solidFill>
              </a:rPr>
              <a:t>•</a:t>
            </a:r>
            <a:endParaRPr lang="en-US" sz="1740" dirty="0"/>
          </a:p>
        </p:txBody>
      </p:sp>
      <p:sp>
        <p:nvSpPr>
          <p:cNvPr id="7" name="Text 5"/>
          <p:cNvSpPr/>
          <p:nvPr/>
        </p:nvSpPr>
        <p:spPr>
          <a:xfrm>
            <a:off x="1325880" y="2130552"/>
            <a:ext cx="97383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263746"/>
                </a:solidFill>
              </a:rPr>
              <a:t>λ captures the private-information-related component.</a:t>
            </a:r>
            <a:endParaRPr lang="en-US" sz="1740" dirty="0"/>
          </a:p>
        </p:txBody>
      </p:sp>
      <p:sp>
        <p:nvSpPr>
          <p:cNvPr id="8" name="Text 6"/>
          <p:cNvSpPr/>
          <p:nvPr/>
        </p:nvSpPr>
        <p:spPr>
          <a:xfrm>
            <a:off x="1005840" y="26929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1F5E97"/>
                </a:solidFill>
              </a:rPr>
              <a:t>•</a:t>
            </a:r>
            <a:endParaRPr lang="en-US" sz="1740" dirty="0"/>
          </a:p>
        </p:txBody>
      </p:sp>
      <p:sp>
        <p:nvSpPr>
          <p:cNvPr id="9" name="Text 7"/>
          <p:cNvSpPr/>
          <p:nvPr/>
        </p:nvSpPr>
        <p:spPr>
          <a:xfrm>
            <a:off x="1325880" y="2660904"/>
            <a:ext cx="97383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263746"/>
                </a:solidFill>
              </a:rPr>
              <a:t>vₜ is commonly interpreted as a public-news shock.</a:t>
            </a:r>
            <a:endParaRPr lang="en-US" sz="174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263746"/>
                </a:solidFill>
              </a:rPr>
              <a:t>pₜ = mₜ₋₁ + (λ + c)bₜ + vₜ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1005840" y="4617720"/>
            <a:ext cx="10058400" cy="822960"/>
          </a:xfrm>
          <a:prstGeom prst="roundRect">
            <a:avLst>
              <a:gd name="adj" fmla="val 8889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727448"/>
            <a:ext cx="9729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Identification issue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70432" y="5056632"/>
            <a:ext cx="972921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746"/>
                </a:solidFill>
              </a:rPr>
              <a:t>Two moment equations are not enough for three parameters. Additional assumptions about long-interval variance are required.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High–low volatility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779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5E97"/>
                </a:solidFill>
              </a:rPr>
              <a:t>•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325880" y="1645920"/>
            <a:ext cx="97383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63746"/>
                </a:solidFill>
              </a:rPr>
              <a:t>Parkinson-type estimators use high and low prices when the underlying asset follows geometric Brownian motion.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05840" y="22814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5E97"/>
                </a:solidFill>
              </a:rPr>
              <a:t>•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325880" y="2249424"/>
            <a:ext cx="97383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63746"/>
                </a:solidFill>
              </a:rPr>
              <a:t>High–low ranges can estimate volatility more efficiently than close-to-close returns under suitable assumptions.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63746"/>
                </a:solidFill>
              </a:rPr>
              <a:t>d pₜ = μ dt + σ pₜ dWₜ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263746"/>
                </a:solidFill>
              </a:rPr>
              <a:t>mean of [log(Hₜ/Lₜ)]²  ∝  σ²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Corwin–Schultz spread proxy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322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1F5E97"/>
                </a:solidFill>
              </a:rPr>
              <a:t>•</a:t>
            </a:r>
            <a:endParaRPr lang="en-US" sz="174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263746"/>
                </a:solidFill>
              </a:rPr>
              <a:t>Corwin and Schultz infer bid–ask spread from high and low prices.</a:t>
            </a:r>
            <a:endParaRPr lang="en-US" sz="1740" dirty="0"/>
          </a:p>
        </p:txBody>
      </p:sp>
      <p:sp>
        <p:nvSpPr>
          <p:cNvPr id="6" name="Text 4"/>
          <p:cNvSpPr/>
          <p:nvPr/>
        </p:nvSpPr>
        <p:spPr>
          <a:xfrm>
            <a:off x="1005840" y="21442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1F5E97"/>
                </a:solidFill>
              </a:rPr>
              <a:t>•</a:t>
            </a:r>
            <a:endParaRPr lang="en-US" sz="1740" dirty="0"/>
          </a:p>
        </p:txBody>
      </p:sp>
      <p:sp>
        <p:nvSpPr>
          <p:cNvPr id="7" name="Text 5"/>
          <p:cNvSpPr/>
          <p:nvPr/>
        </p:nvSpPr>
        <p:spPr>
          <a:xfrm>
            <a:off x="1325880" y="2112264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263746"/>
                </a:solidFill>
              </a:rPr>
              <a:t>High prices are often associated with offers; low prices with bids.</a:t>
            </a:r>
            <a:endParaRPr lang="en-US" sz="1740" dirty="0"/>
          </a:p>
        </p:txBody>
      </p:sp>
      <p:sp>
        <p:nvSpPr>
          <p:cNvPr id="8" name="Text 6"/>
          <p:cNvSpPr/>
          <p:nvPr/>
        </p:nvSpPr>
        <p:spPr>
          <a:xfrm>
            <a:off x="1005840" y="26563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1F5E97"/>
                </a:solidFill>
              </a:rPr>
              <a:t>•</a:t>
            </a:r>
            <a:endParaRPr lang="en-US" sz="1740" dirty="0"/>
          </a:p>
        </p:txBody>
      </p:sp>
      <p:sp>
        <p:nvSpPr>
          <p:cNvPr id="9" name="Text 7"/>
          <p:cNvSpPr/>
          <p:nvPr/>
        </p:nvSpPr>
        <p:spPr>
          <a:xfrm>
            <a:off x="1325880" y="2624328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263746"/>
                </a:solidFill>
              </a:rPr>
              <a:t>The H/L ratio reflects both fundamental volatility and bid–ask spread.</a:t>
            </a:r>
            <a:endParaRPr lang="en-US" sz="1740" dirty="0"/>
          </a:p>
        </p:txBody>
      </p:sp>
      <p:sp>
        <p:nvSpPr>
          <p:cNvPr id="10" name="Text 8"/>
          <p:cNvSpPr/>
          <p:nvPr/>
        </p:nvSpPr>
        <p:spPr>
          <a:xfrm>
            <a:off x="1005840" y="316839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1F5E97"/>
                </a:solidFill>
              </a:rPr>
              <a:t>•</a:t>
            </a:r>
            <a:endParaRPr lang="en-US" sz="1740" dirty="0"/>
          </a:p>
        </p:txBody>
      </p:sp>
      <p:sp>
        <p:nvSpPr>
          <p:cNvPr id="11" name="Text 9"/>
          <p:cNvSpPr/>
          <p:nvPr/>
        </p:nvSpPr>
        <p:spPr>
          <a:xfrm>
            <a:off x="1325880" y="3136392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263746"/>
                </a:solidFill>
              </a:rPr>
              <a:t>Useful when no order book is available, such as corporate bond markets.</a:t>
            </a:r>
            <a:endParaRPr lang="en-US" sz="174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63746"/>
                </a:solidFill>
              </a:rPr>
              <a:t>Sₜ = 2(e^{αₜ} − 1) / (1 + e^{αₜ})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871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5E97"/>
                </a:solidFill>
              </a:rPr>
              <a:t>Second generation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834640" y="3127248"/>
            <a:ext cx="6537960" cy="0"/>
          </a:xfrm>
          <a:prstGeom prst="line">
            <a:avLst/>
          </a:prstGeom>
          <a:noFill/>
          <a:ln w="25400">
            <a:solidFill>
              <a:srgbClr val="A8C9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34015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4F5B66"/>
                </a:solidFill>
              </a:rPr>
              <a:t>Strategic trade models: signed volume and market impact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trade models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322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Second-generation models focus on illiquidity as an informative ML feature.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1005840" y="21442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1325880" y="2112264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They model strategic interaction between informed and uninformed traders.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1005840" y="26563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1325880" y="2624328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Core inputs are signed volume and order-flow imbalance.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1005840" y="316839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1325880" y="3136392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Sometimes the t-values of microstructure estimates are more informative than the estimates themselves.</a:t>
            </a:r>
            <a:endParaRPr lang="en-US" sz="1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Kyle model: actors and order flow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8308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BD2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892808"/>
            <a:ext cx="2112264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63746"/>
                </a:solidFill>
              </a:rPr>
              <a:t>Risky asset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263746"/>
                </a:solidFill>
              </a:rPr>
              <a:t>terminal value v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" y="297180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BD2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3081528"/>
            <a:ext cx="2112264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63746"/>
                </a:solidFill>
              </a:rPr>
              <a:t>Informed trader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263746"/>
                </a:solidFill>
              </a:rPr>
              <a:t>chooses x after seeing v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416052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BD2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4270248"/>
            <a:ext cx="2112264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63746"/>
                </a:solidFill>
              </a:rPr>
              <a:t>Noise trader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263746"/>
                </a:solidFill>
              </a:rPr>
              <a:t>trades u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154680" y="3383280"/>
            <a:ext cx="1554480" cy="0"/>
          </a:xfrm>
          <a:prstGeom prst="line">
            <a:avLst/>
          </a:prstGeom>
          <a:noFill/>
          <a:ln w="15240">
            <a:solidFill>
              <a:srgbClr val="6F9FC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09160" y="288036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BD2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2990088"/>
            <a:ext cx="1975104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63746"/>
                </a:solidFill>
              </a:rPr>
              <a:t>Total flow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63746"/>
                </a:solidFill>
              </a:rPr>
              <a:t>y = x + u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949440" y="3383280"/>
            <a:ext cx="1417320" cy="0"/>
          </a:xfrm>
          <a:prstGeom prst="line">
            <a:avLst/>
          </a:prstGeom>
          <a:noFill/>
          <a:ln w="15240">
            <a:solidFill>
              <a:srgbClr val="6F9F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66760" y="28803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BD2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6488" y="2990088"/>
            <a:ext cx="2340864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63746"/>
                </a:solidFill>
              </a:rPr>
              <a:t>Market maker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63746"/>
                </a:solidFill>
              </a:rPr>
              <a:t>sets price p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Kyle λ: interpretation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322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0" dirty="0">
                <a:solidFill>
                  <a:srgbClr val="1F5E97"/>
                </a:solidFill>
              </a:rPr>
              <a:t>•</a:t>
            </a:r>
            <a:endParaRPr lang="en-US" sz="176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263746"/>
                </a:solidFill>
              </a:rPr>
              <a:t>Market maker conjectures a linear price-adjustment rule: p = λy + μ.</a:t>
            </a:r>
            <a:endParaRPr lang="en-US" sz="1760" dirty="0"/>
          </a:p>
        </p:txBody>
      </p:sp>
      <p:sp>
        <p:nvSpPr>
          <p:cNvPr id="6" name="Text 4"/>
          <p:cNvSpPr/>
          <p:nvPr/>
        </p:nvSpPr>
        <p:spPr>
          <a:xfrm>
            <a:off x="1005840" y="21625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0" dirty="0">
                <a:solidFill>
                  <a:srgbClr val="1F5E97"/>
                </a:solidFill>
              </a:rPr>
              <a:t>•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1325880" y="2130552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263746"/>
                </a:solidFill>
              </a:rPr>
              <a:t>λ is an inverse measure of liquidity.</a:t>
            </a:r>
            <a:endParaRPr lang="en-US" sz="1760" dirty="0"/>
          </a:p>
        </p:txBody>
      </p:sp>
      <p:sp>
        <p:nvSpPr>
          <p:cNvPr id="8" name="Text 6"/>
          <p:cNvSpPr/>
          <p:nvPr/>
        </p:nvSpPr>
        <p:spPr>
          <a:xfrm>
            <a:off x="1005840" y="26929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0" dirty="0">
                <a:solidFill>
                  <a:srgbClr val="1F5E97"/>
                </a:solidFill>
              </a:rPr>
              <a:t>•</a:t>
            </a:r>
            <a:endParaRPr lang="en-US" sz="1760" dirty="0"/>
          </a:p>
        </p:txBody>
      </p:sp>
      <p:sp>
        <p:nvSpPr>
          <p:cNvPr id="9" name="Text 7"/>
          <p:cNvSpPr/>
          <p:nvPr/>
        </p:nvSpPr>
        <p:spPr>
          <a:xfrm>
            <a:off x="1325880" y="2660904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263746"/>
                </a:solidFill>
              </a:rPr>
              <a:t>Lower λ means the asset is more liquid; more volume is required to move prices.</a:t>
            </a:r>
            <a:endParaRPr lang="en-US" sz="1760" dirty="0"/>
          </a:p>
        </p:txBody>
      </p:sp>
      <p:sp>
        <p:nvSpPr>
          <p:cNvPr id="10" name="Text 8"/>
          <p:cNvSpPr/>
          <p:nvPr/>
        </p:nvSpPr>
        <p:spPr>
          <a:xfrm>
            <a:off x="1005840" y="32232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0" dirty="0">
                <a:solidFill>
                  <a:srgbClr val="1F5E97"/>
                </a:solidFill>
              </a:rPr>
              <a:t>•</a:t>
            </a:r>
            <a:endParaRPr lang="en-US" sz="1760" dirty="0"/>
          </a:p>
        </p:txBody>
      </p:sp>
      <p:sp>
        <p:nvSpPr>
          <p:cNvPr id="11" name="Text 9"/>
          <p:cNvSpPr/>
          <p:nvPr/>
        </p:nvSpPr>
        <p:spPr>
          <a:xfrm>
            <a:off x="1325880" y="3191256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263746"/>
                </a:solidFill>
              </a:rPr>
              <a:t>1/λ measures market depth.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F5E97"/>
                </a:solidFill>
              </a:rPr>
              <a:t>Price impact is the slope from signed order flow to price change.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Estimating price impact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74520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263746"/>
                </a:solidFill>
              </a:rPr>
              <a:t>Δpₜ = λ (bₜ Vₜ) + εₜ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312724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Kyle λ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78992" y="3456432"/>
            <a:ext cx="29626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746"/>
                </a:solidFill>
              </a:rPr>
              <a:t>Estimate price change on signed volume. The slope is a market-impact proxy.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301752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312724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Amihud λ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99432" y="3456432"/>
            <a:ext cx="29626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746"/>
                </a:solidFill>
              </a:rPr>
              <a:t>Daily price response per dollar of volume; proxy for price impact.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301752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312724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Hasbrouck λ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19872" y="3456432"/>
            <a:ext cx="29626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746"/>
                </a:solidFill>
              </a:rPr>
              <a:t>Bar-level signed-dollar-volume impact; often sampled with 5-minute bars.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Hasbrouck-style feature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322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1F5E97"/>
                </a:solidFill>
              </a:rPr>
              <a:t>•</a:t>
            </a:r>
            <a:endParaRPr lang="en-US" sz="174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263746"/>
                </a:solidFill>
              </a:rPr>
              <a:t>Estimated λ approximates effective cost of trading and market impact.</a:t>
            </a:r>
            <a:endParaRPr lang="en-US" sz="1740" dirty="0"/>
          </a:p>
        </p:txBody>
      </p:sp>
      <p:sp>
        <p:nvSpPr>
          <p:cNvPr id="6" name="Text 4"/>
          <p:cNvSpPr/>
          <p:nvPr/>
        </p:nvSpPr>
        <p:spPr>
          <a:xfrm>
            <a:off x="1005840" y="21625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1F5E97"/>
                </a:solidFill>
              </a:rPr>
              <a:t>•</a:t>
            </a:r>
            <a:endParaRPr lang="en-US" sz="1740" dirty="0"/>
          </a:p>
        </p:txBody>
      </p:sp>
      <p:sp>
        <p:nvSpPr>
          <p:cNvPr id="7" name="Text 5"/>
          <p:cNvSpPr/>
          <p:nvPr/>
        </p:nvSpPr>
        <p:spPr>
          <a:xfrm>
            <a:off x="1325880" y="2130552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263746"/>
                </a:solidFill>
              </a:rPr>
              <a:t>Hasbrouck recommends using time bars, often 5-minute bars, for tick sampling.</a:t>
            </a:r>
            <a:endParaRPr lang="en-US" sz="1740" dirty="0"/>
          </a:p>
        </p:txBody>
      </p:sp>
      <p:sp>
        <p:nvSpPr>
          <p:cNvPr id="8" name="Text 6"/>
          <p:cNvSpPr/>
          <p:nvPr/>
        </p:nvSpPr>
        <p:spPr>
          <a:xfrm>
            <a:off x="1005840" y="26929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1F5E97"/>
                </a:solidFill>
              </a:rPr>
              <a:t>•</a:t>
            </a:r>
            <a:endParaRPr lang="en-US" sz="1740" dirty="0"/>
          </a:p>
        </p:txBody>
      </p:sp>
      <p:sp>
        <p:nvSpPr>
          <p:cNvPr id="9" name="Text 7"/>
          <p:cNvSpPr/>
          <p:nvPr/>
        </p:nvSpPr>
        <p:spPr>
          <a:xfrm>
            <a:off x="1325880" y="2660904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263746"/>
                </a:solidFill>
              </a:rPr>
              <a:t>The signed dollar volume within a bar explains the bar return.</a:t>
            </a:r>
            <a:endParaRPr lang="en-US" sz="174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63746"/>
                </a:solidFill>
              </a:rPr>
              <a:t>log(pᶜᵢ,τ) − log(pᶜᵢ₋₁,τ) = λᵢ Σ(bᵢ,t pᵢ,t Vᵢ,t) + εᵢ,t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871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5E97"/>
                </a:solidFill>
              </a:rPr>
              <a:t>Third generation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834640" y="3127248"/>
            <a:ext cx="6537960" cy="0"/>
          </a:xfrm>
          <a:prstGeom prst="line">
            <a:avLst/>
          </a:prstGeom>
          <a:noFill/>
          <a:ln w="25400">
            <a:solidFill>
              <a:srgbClr val="A8C9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34015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4F5B66"/>
                </a:solidFill>
              </a:rPr>
              <a:t>Sequential trade models: PIN, VPIN, and liquidity failure risk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Sequential Trade Models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236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dirty="0">
                <a:solidFill>
                  <a:srgbClr val="1F5E97"/>
                </a:solidFill>
              </a:rPr>
              <a:t>•</a:t>
            </a:r>
            <a:endParaRPr lang="en-US" sz="1780" dirty="0"/>
          </a:p>
        </p:txBody>
      </p:sp>
      <p:sp>
        <p:nvSpPr>
          <p:cNvPr id="5" name="Text 3"/>
          <p:cNvSpPr/>
          <p:nvPr/>
        </p:nvSpPr>
        <p:spPr>
          <a:xfrm>
            <a:off x="1325880" y="169164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263746"/>
                </a:solidFill>
              </a:rPr>
              <a:t>Traders arrive sequentially and independently.</a:t>
            </a:r>
            <a:endParaRPr lang="en-US" sz="1780" dirty="0"/>
          </a:p>
        </p:txBody>
      </p:sp>
      <p:sp>
        <p:nvSpPr>
          <p:cNvPr id="6" name="Text 4"/>
          <p:cNvSpPr/>
          <p:nvPr/>
        </p:nvSpPr>
        <p:spPr>
          <a:xfrm>
            <a:off x="1005840" y="22905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dirty="0">
                <a:solidFill>
                  <a:srgbClr val="1F5E97"/>
                </a:solidFill>
              </a:rPr>
              <a:t>•</a:t>
            </a:r>
            <a:endParaRPr lang="en-US" sz="1780" dirty="0"/>
          </a:p>
        </p:txBody>
      </p:sp>
      <p:sp>
        <p:nvSpPr>
          <p:cNvPr id="7" name="Text 5"/>
          <p:cNvSpPr/>
          <p:nvPr/>
        </p:nvSpPr>
        <p:spPr>
          <a:xfrm>
            <a:off x="1325880" y="2258568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263746"/>
                </a:solidFill>
              </a:rPr>
              <a:t>Market makers update beliefs and prices dynamically.</a:t>
            </a:r>
            <a:endParaRPr lang="en-US" sz="1780" dirty="0"/>
          </a:p>
        </p:txBody>
      </p:sp>
      <p:sp>
        <p:nvSpPr>
          <p:cNvPr id="8" name="Text 6"/>
          <p:cNvSpPr/>
          <p:nvPr/>
        </p:nvSpPr>
        <p:spPr>
          <a:xfrm>
            <a:off x="1005840" y="28575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0" dirty="0">
                <a:solidFill>
                  <a:srgbClr val="1F5E97"/>
                </a:solidFill>
              </a:rPr>
              <a:t>•</a:t>
            </a:r>
            <a:endParaRPr lang="en-US" sz="1780" dirty="0"/>
          </a:p>
        </p:txBody>
      </p:sp>
      <p:sp>
        <p:nvSpPr>
          <p:cNvPr id="9" name="Text 7"/>
          <p:cNvSpPr/>
          <p:nvPr/>
        </p:nvSpPr>
        <p:spPr>
          <a:xfrm>
            <a:off x="1325880" y="2825496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263746"/>
                </a:solidFill>
              </a:rPr>
              <a:t>The model is popular because it frames the risk faced by liquidity providers.</a:t>
            </a:r>
            <a:endParaRPr lang="en-US" sz="178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5E97"/>
                </a:solidFill>
              </a:rPr>
              <a:t>The question becomes: how likely is this order flow information-based?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PIN: Probability of Information-Based Trading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322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PIN estimates the probability that market makers are being adversely selected.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1005840" y="21442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1325880" y="2112264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Trading is viewed as a repeated game between market makers and traders.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1005840" y="26563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1325880" y="2624328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The key parameters are news arrival, good/bad news probability, informed arrival rate, and uninformed arrival rate.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868680" y="4251960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263746"/>
                </a:solidFill>
              </a:rPr>
              <a:t>PIN = α μ / (α μ + 2ε)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005840" y="4983480"/>
            <a:ext cx="10058400" cy="658368"/>
          </a:xfrm>
          <a:prstGeom prst="roundRect">
            <a:avLst>
              <a:gd name="adj" fmla="val 11111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5093208"/>
            <a:ext cx="9729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Rough interpretation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70432" y="5422392"/>
            <a:ext cx="97292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746"/>
                </a:solidFill>
              </a:rPr>
              <a:t>PIN is the fraction of arrival intensity attributable to informed trading.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VPIN: volume-synchronized information risk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322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5E97"/>
                </a:solidFill>
              </a:rPr>
              <a:t>•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63746"/>
                </a:solidFill>
              </a:rPr>
              <a:t>VPIN is based on a volume clock rather than only calendar time.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05840" y="21625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5E97"/>
                </a:solidFill>
              </a:rPr>
              <a:t>•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325880" y="2130552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63746"/>
                </a:solidFill>
              </a:rPr>
              <a:t>It measures imbalance between buy-initiated and sell-initiated volume.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05840" y="26929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5E97"/>
                </a:solidFill>
              </a:rPr>
              <a:t>•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325880" y="2660904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63746"/>
                </a:solidFill>
              </a:rPr>
              <a:t>It provides a high-frequency metric of the probability that liquidity provision may fail.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263746"/>
                </a:solidFill>
              </a:rPr>
              <a:t>VPINₜ = Σ |Vᴮ_τ − Vˢ_τ| / (nV)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PIN versus VPIN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600200"/>
            <a:ext cx="4800600" cy="2057400"/>
          </a:xfrm>
          <a:prstGeom prst="roundRect">
            <a:avLst>
              <a:gd name="adj" fmla="val 3556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" y="1709928"/>
            <a:ext cx="4471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PIN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24712" y="2039112"/>
            <a:ext cx="4471416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746"/>
                </a:solidFill>
              </a:rPr>
              <a:t>Daily estimate.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746"/>
                </a:solidFill>
              </a:rPr>
              <a:t>Roughly 20 days may be enough to infer a stable estimate.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46520" y="1600200"/>
            <a:ext cx="4800600" cy="2057400"/>
          </a:xfrm>
          <a:prstGeom prst="roundRect">
            <a:avLst>
              <a:gd name="adj" fmla="val 3556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11112" y="1709928"/>
            <a:ext cx="4471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VPIN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11112" y="2039112"/>
            <a:ext cx="4471416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746"/>
                </a:solidFill>
              </a:rPr>
              <a:t>Volume-based metric.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746"/>
                </a:solidFill>
              </a:rPr>
              <a:t>Designed for high-frequency monitoring of liquidity risk.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5E97"/>
                </a:solidFill>
              </a:rPr>
              <a:t>Both measure the importance of information-based trade.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871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5E97"/>
                </a:solidFill>
              </a:rPr>
              <a:t>Additional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834640" y="3127248"/>
            <a:ext cx="6537960" cy="0"/>
          </a:xfrm>
          <a:prstGeom prst="line">
            <a:avLst/>
          </a:prstGeom>
          <a:noFill/>
          <a:ln w="25400">
            <a:solidFill>
              <a:srgbClr val="A8C9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34015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4F5B66"/>
                </a:solidFill>
              </a:rPr>
              <a:t>Practical variables from microstructure datasets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Round-sized trades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322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5E97"/>
                </a:solidFill>
              </a:rPr>
              <a:t>•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63746"/>
                </a:solidFill>
              </a:rPr>
              <a:t>Human GUI traders often choose round sizes.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05840" y="21625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5E97"/>
                </a:solidFill>
              </a:rPr>
              <a:t>•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325880" y="2130552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63746"/>
                </a:solidFill>
              </a:rPr>
              <a:t>Programmed or “silicon” traders may randomize order size to disguise their footprint.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05840" y="26929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5E97"/>
                </a:solidFill>
              </a:rPr>
              <a:t>•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325880" y="2660904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63746"/>
                </a:solidFill>
              </a:rPr>
              <a:t>The ratio of non-round-sized trades to round-sized trades is a candidate ML feature.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005840" y="4480560"/>
            <a:ext cx="10058400" cy="822960"/>
          </a:xfrm>
          <a:prstGeom prst="roundRect">
            <a:avLst>
              <a:gd name="adj" fmla="val 8889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4590288"/>
            <a:ext cx="9729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Feature 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70432" y="4919472"/>
            <a:ext cx="972921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746"/>
                </a:solidFill>
              </a:rPr>
              <a:t>Round-size behavior may signal human conviction, while unusually low round-size shares may reflect short-term or algorithmic activity.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Cancellation, limit, and market order rates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322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Different order types affect bid–ask spread dynamics differently.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1005840" y="21442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1325880" y="2112264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Large quote cancellation rates may indicate low liquidity.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1005840" y="26563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1325880" y="2624328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Quote danglers, stuffers, liquidity squeezers, and pack hunters can leave microstructure traces.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1005840" y="316839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1325880" y="3136392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Rates of cancellation, limit orders, and market orders can reveal trading intentions.</a:t>
            </a:r>
            <a:endParaRPr lang="en-US" sz="1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TWAP and VWAP artifacts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322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Time Weighted Average Price algorithms split a large order into small orders.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1005840" y="21442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1325880" y="2112264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Large institutions may execute concentrated volume at specific seconds of each minute.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1005840" y="26563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1325880" y="2624328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HFT can react to information leaked by slower execution algorithms.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1005840" y="316839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1325880" y="3136392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A useful feature is order imbalance at the beginning of each minute and its persistence.</a:t>
            </a:r>
            <a:endParaRPr lang="en-US" sz="1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Option-market features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322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Order-flow imbalance can indicate the presence of informed traders.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1005840" y="21442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1325880" y="2112264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Option Greeks across maturities and strikes are candidate features.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1005840" y="26563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1325880" y="2624328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Disagreement between stock quotes and option prices can become an ML signal.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1005840" y="316839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5E97"/>
                </a:solidFill>
              </a:rPr>
              <a:t>•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1325880" y="3136392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263746"/>
                </a:solidFill>
              </a:rPr>
              <a:t>Serial correlation of signed order flow helps distinguish herding from order splitting.</a:t>
            </a:r>
            <a:endParaRPr lang="en-US" sz="1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Microstructure information matrix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74520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63746"/>
                </a:solidFill>
              </a:rPr>
              <a:t>Xₜ = [ VPIN, Kyle λ, Hasbrouck λ, cancellation rates, round-size ratio, order-flow autocorrelation, … ]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05840" y="3154680"/>
            <a:ext cx="10058400" cy="1143000"/>
          </a:xfrm>
          <a:prstGeom prst="roundRect">
            <a:avLst>
              <a:gd name="adj" fmla="val 6400"/>
            </a:avLst>
          </a:prstGeom>
          <a:solidFill>
            <a:srgbClr val="F3F8FD"/>
          </a:solidFill>
          <a:ln w="11430">
            <a:solidFill>
              <a:srgbClr val="C8DB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3264408"/>
            <a:ext cx="9729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5E97"/>
                </a:solidFill>
              </a:rPr>
              <a:t>Procedure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70432" y="3593592"/>
            <a:ext cx="97292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746"/>
                </a:solidFill>
              </a:rPr>
              <a:t>Train ML model → predict labels → compute cross-entropy or log-likelihood loss → estimate KDE of losses → transform loss percentile into microstructure information score φₜ ∈ [0,1].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E97"/>
                </a:solidFill>
              </a:rPr>
              <a:t>φₜ is a feature for crisis-prone or flash-crash-prone market states.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5E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takeaway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170432"/>
            <a:ext cx="10744200" cy="0"/>
          </a:xfrm>
          <a:prstGeom prst="line">
            <a:avLst/>
          </a:prstGeom>
          <a:noFill/>
          <a:ln w="13970">
            <a:solidFill>
              <a:srgbClr val="D7E6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236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5E97"/>
                </a:solidFill>
              </a:rPr>
              <a:t>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691640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746"/>
                </a:solidFill>
              </a:rPr>
              <a:t>Microstructure is not “more data”; it is data about the trading process.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905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5E97"/>
                </a:solidFill>
              </a:rPr>
              <a:t>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258568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746"/>
                </a:solidFill>
              </a:rPr>
              <a:t>Spread, impact, imbalance, cancellation, and sequencing features proxy hidden information risk.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8575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5E97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825496"/>
            <a:ext cx="98298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746"/>
                </a:solidFill>
              </a:rPr>
              <a:t>The ML goal is to convert market-process traces into robust predictive features.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5E97"/>
                </a:solidFill>
              </a:rPr>
              <a:t>Good market ML sees both price and the mechanism producing price.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5E97"/>
                </a:solidFill>
              </a:rPr>
              <a:t>Q&amp;A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33101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5B66"/>
                </a:solidFill>
              </a:rPr>
              <a:t>Microstructure Features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656832"/>
            <a:ext cx="36576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8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Microstructure Features</dc:title>
  <dc:subject>AFML Chapter 19 Microstructure Features</dc:subject>
  <dc:creator>OpenAI</dc:creator>
  <cp:lastModifiedBy>OpenAI</cp:lastModifiedBy>
  <cp:revision>1</cp:revision>
  <dcterms:created xsi:type="dcterms:W3CDTF">2026-09-01T08:06:19Z</dcterms:created>
  <dcterms:modified xsi:type="dcterms:W3CDTF">2026-09-01T08:06:19Z</dcterms:modified>
</cp:coreProperties>
</file>