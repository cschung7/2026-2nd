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4231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Chapter 10 · Bet Sizing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68680" y="315468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6B7280"/>
                </a:solidFill>
              </a:rPr>
              <a:t>From ML probabilities to position size and limit price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68680" y="37947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Lecture presentation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64465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AFML · Chapter 10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18520" y="64465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13232"/>
            <a:ext cx="10881360" cy="0"/>
          </a:xfrm>
          <a:prstGeom prst="line">
            <a:avLst/>
          </a:prstGeom>
          <a:noFill/>
          <a:ln w="12700">
            <a:solidFill>
              <a:srgbClr val="DDE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bet size matters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60120" y="1234440"/>
            <a:ext cx="10241280" cy="4206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0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classifier can be accurate and still lose money if positions are oversized.</a:t>
            </a:r>
            <a:endParaRPr lang="en-US" sz="2000" dirty="0"/>
          </a:p>
          <a:p>
            <a:r>
              <a:rPr lang="en-US" sz="20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 size translates a prediction into capital at risk.</a:t>
            </a:r>
            <a:endParaRPr lang="en-US" sz="2000" dirty="0"/>
          </a:p>
          <a:p>
            <a:r>
              <a:rPr lang="en-US" sz="20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central object is m ∈ [−1, 1]: full short to full long.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2960" y="5577840"/>
            <a:ext cx="10561320" cy="502920"/>
          </a:xfrm>
          <a:prstGeom prst="rect">
            <a:avLst/>
          </a:prstGeom>
          <a:solidFill>
            <a:srgbClr val="F7FBFF"/>
          </a:solidFill>
          <a:ln w="12700">
            <a:solidFill>
              <a:srgbClr val="DDEB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5705856"/>
            <a:ext cx="10104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</a:rPr>
              <a:t>Prediction is not a trade until it becomes a position.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64465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AFML · Chapter 10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18520" y="64465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13232"/>
            <a:ext cx="10881360" cy="0"/>
          </a:xfrm>
          <a:prstGeom prst="line">
            <a:avLst/>
          </a:prstGeom>
          <a:noFill/>
          <a:ln w="12700">
            <a:solidFill>
              <a:srgbClr val="DDE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Simple path-dependence example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60120" y="1234440"/>
            <a:ext cx="10241280" cy="4206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0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Prices may end higher, but interim drawdown can trigger stop-loss or forced deleveraging.</a:t>
            </a:r>
            <a:endParaRPr lang="en-US" sz="2000" dirty="0"/>
          </a:p>
          <a:p>
            <a:r>
              <a:rPr lang="en-US" sz="20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strategies with the same signal direction can have different P&amp;L because their size path differs.</a:t>
            </a:r>
            <a:endParaRPr lang="en-US" sz="2000" dirty="0"/>
          </a:p>
          <a:p>
            <a:r>
              <a:rPr lang="en-US" sz="20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Therefore initial position should not automatically be maximized.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2960" y="5577840"/>
            <a:ext cx="10561320" cy="502920"/>
          </a:xfrm>
          <a:prstGeom prst="rect">
            <a:avLst/>
          </a:prstGeom>
          <a:solidFill>
            <a:srgbClr val="F7FBFF"/>
          </a:solidFill>
          <a:ln w="12700">
            <a:solidFill>
              <a:srgbClr val="DDEB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5705856"/>
            <a:ext cx="10104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</a:rPr>
              <a:t>Bet sizing is a dynamic risk-control problem, not only a forecasting problem.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64465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AFML · Chapter 10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18520" y="64465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13232"/>
            <a:ext cx="10881360" cy="0"/>
          </a:xfrm>
          <a:prstGeom prst="line">
            <a:avLst/>
          </a:prstGeom>
          <a:noFill/>
          <a:ln w="12700">
            <a:solidFill>
              <a:srgbClr val="DDE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Strategy-independent sizing: concurrency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60120" y="1143000"/>
            <a:ext cx="10241280" cy="1920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 active long and short signals at time t.</a:t>
            </a:r>
            <a:endParaRPr lang="en-US" sz="1800" dirty="0"/>
          </a:p>
          <a:p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 net concurrency into a bounded position size.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05840" y="3154680"/>
            <a:ext cx="10149840" cy="1280160"/>
          </a:xfrm>
          <a:prstGeom prst="rect">
            <a:avLst/>
          </a:prstGeom>
          <a:solidFill>
            <a:srgbClr val="F7FBFF"/>
          </a:solidFill>
          <a:ln w="12700">
            <a:solidFill>
              <a:srgbClr val="DDEB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3319272"/>
            <a:ext cx="9692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cₜ = cₜ,ˡ − cₜ,ˢ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mₜ = [F(cₜ) − F(0)] / [1 − F(0)]  if cₜ ≥ 0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mₜ = [F(cₜ) − F(0)] / F(0)        if cₜ &lt; 0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22960" y="5577840"/>
            <a:ext cx="10561320" cy="502920"/>
          </a:xfrm>
          <a:prstGeom prst="rect">
            <a:avLst/>
          </a:prstGeom>
          <a:solidFill>
            <a:srgbClr val="F7FBFF"/>
          </a:solidFill>
          <a:ln w="12700">
            <a:solidFill>
              <a:srgbClr val="DDEB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5705856"/>
            <a:ext cx="10104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</a:rPr>
              <a:t>More concurrent signals → larger absolute position, but still bounded.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64465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AFML · Chapter 10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018520" y="64465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13232"/>
            <a:ext cx="10881360" cy="0"/>
          </a:xfrm>
          <a:prstGeom prst="line">
            <a:avLst/>
          </a:prstGeom>
          <a:noFill/>
          <a:ln w="12700">
            <a:solidFill>
              <a:srgbClr val="DDE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F(·)?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60120" y="1234440"/>
            <a:ext cx="10241280" cy="4206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0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F(·) is the CDF of a fitted mixture distribution, often a mixture of Gaussians.</a:t>
            </a:r>
            <a:endParaRPr lang="en-US" sz="2000" dirty="0"/>
          </a:p>
          <a:p>
            <a:r>
              <a:rPr lang="en-US" sz="20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Special intuition: with a normal CDF and F(0)=1/2, positive c maps to m = 2F(c) − 1.</a:t>
            </a:r>
            <a:endParaRPr lang="en-US" sz="2000" dirty="0"/>
          </a:p>
          <a:p>
            <a:r>
              <a:rPr lang="en-US" sz="20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role of F is to normalize signal crowding into a probability-like scale.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AFML · Chapter 10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018520" y="64465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13232"/>
            <a:ext cx="10881360" cy="0"/>
          </a:xfrm>
          <a:prstGeom prst="line">
            <a:avLst/>
          </a:prstGeom>
          <a:noFill/>
          <a:ln w="12700">
            <a:solidFill>
              <a:srgbClr val="DDE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Budgeting approach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60120" y="1143000"/>
            <a:ext cx="10241280" cy="1920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maximum position is reached only when the strongest concurrent signal configuration appears.</a:t>
            </a:r>
            <a:endParaRPr lang="en-US" sz="1800" dirty="0"/>
          </a:p>
          <a:p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 and short sides are scaled by their historical maximum concurrency.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05840" y="3154680"/>
            <a:ext cx="10149840" cy="1280160"/>
          </a:xfrm>
          <a:prstGeom prst="rect">
            <a:avLst/>
          </a:prstGeom>
          <a:solidFill>
            <a:srgbClr val="F7FBFF"/>
          </a:solidFill>
          <a:ln w="12700">
            <a:solidFill>
              <a:srgbClr val="DDEB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3319272"/>
            <a:ext cx="9692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mₜ = cₜ,ˡ / maxᵢ{cᵢ,ˡ} − cₜ,ˢ / maxᵢ{cᵢ,ˢ}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22960" y="5577840"/>
            <a:ext cx="10561320" cy="502920"/>
          </a:xfrm>
          <a:prstGeom prst="rect">
            <a:avLst/>
          </a:prstGeom>
          <a:solidFill>
            <a:srgbClr val="F7FBFF"/>
          </a:solidFill>
          <a:ln w="12700">
            <a:solidFill>
              <a:srgbClr val="DDEB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5705856"/>
            <a:ext cx="10104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</a:rPr>
              <a:t>Budgeting is simple, transparent, and independent of a specific classifier.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64465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AFML · Chapter 10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018520" y="64465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13232"/>
            <a:ext cx="10881360" cy="0"/>
          </a:xfrm>
          <a:prstGeom prst="line">
            <a:avLst/>
          </a:prstGeom>
          <a:noFill/>
          <a:ln w="12700">
            <a:solidFill>
              <a:srgbClr val="DDE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Meta-labeling approach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60120" y="1234440"/>
            <a:ext cx="10241280" cy="4206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0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 a classifier to estimate the probability that a signal is correct or incorrect.</a:t>
            </a:r>
            <a:endParaRPr lang="en-US" sz="2000" dirty="0"/>
          </a:p>
          <a:p>
            <a:r>
              <a:rPr lang="en-US" sz="20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predicted probability directly to size the bet.</a:t>
            </a:r>
            <a:endParaRPr lang="en-US" sz="2000" dirty="0"/>
          </a:p>
          <a:p>
            <a:r>
              <a:rPr lang="en-US" sz="20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Advantage: false-positive information is incorporated into position sizing.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2960" y="5577840"/>
            <a:ext cx="10561320" cy="502920"/>
          </a:xfrm>
          <a:prstGeom prst="rect">
            <a:avLst/>
          </a:prstGeom>
          <a:solidFill>
            <a:srgbClr val="F7FBFF"/>
          </a:solidFill>
          <a:ln w="12700">
            <a:solidFill>
              <a:srgbClr val="DDEB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5705856"/>
            <a:ext cx="10104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</a:rPr>
              <a:t>Meta-labeling links classification confidence to capital allocation.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64465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AFML · Chapter 10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18520" y="64465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13232"/>
            <a:ext cx="10881360" cy="0"/>
          </a:xfrm>
          <a:prstGeom prst="line">
            <a:avLst/>
          </a:prstGeom>
          <a:noFill/>
          <a:ln w="12700">
            <a:solidFill>
              <a:srgbClr val="DDE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Bet sizing from predicted probability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60120" y="1143000"/>
            <a:ext cx="10241280" cy="1920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binary labels x ∈ {−1, 1}, test whether the predicted class probability is above chance.</a:t>
            </a:r>
            <a:endParaRPr lang="en-US" sz="1800" dirty="0"/>
          </a:p>
          <a:p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z-score converts confidence into a smooth bet size.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05840" y="3154680"/>
            <a:ext cx="10149840" cy="1280160"/>
          </a:xfrm>
          <a:prstGeom prst="rect">
            <a:avLst/>
          </a:prstGeom>
          <a:solidFill>
            <a:srgbClr val="F7FBFF"/>
          </a:solidFill>
          <a:ln w="12700">
            <a:solidFill>
              <a:srgbClr val="DDEB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3319272"/>
            <a:ext cx="9692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 = x · (2Z[z] − 1)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z = (p[x=1] − 1/2) / √(p[x=1](1−p[x=1]))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22960" y="5577840"/>
            <a:ext cx="10561320" cy="502920"/>
          </a:xfrm>
          <a:prstGeom prst="rect">
            <a:avLst/>
          </a:prstGeom>
          <a:solidFill>
            <a:srgbClr val="F7FBFF"/>
          </a:solidFill>
          <a:ln w="12700">
            <a:solidFill>
              <a:srgbClr val="DDEB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5705856"/>
            <a:ext cx="10104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</a:rPr>
              <a:t>Higher confidence increases |m|; direction comes from x.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64465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AFML · Chapter 10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018520" y="64465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13232"/>
            <a:ext cx="10881360" cy="0"/>
          </a:xfrm>
          <a:prstGeom prst="line">
            <a:avLst/>
          </a:prstGeom>
          <a:noFill/>
          <a:ln w="12700">
            <a:solidFill>
              <a:srgbClr val="DDE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Multiple predicted labels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60120" y="1143000"/>
            <a:ext cx="10241280" cy="1920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Let p̃ be the largest predicted class probability.</a:t>
            </a:r>
            <a:endParaRPr lang="en-US" sz="1800" dirty="0"/>
          </a:p>
          <a:p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p̃ with the equal-probability benchmark 1/||x||.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05840" y="3154680"/>
            <a:ext cx="10149840" cy="1280160"/>
          </a:xfrm>
          <a:prstGeom prst="rect">
            <a:avLst/>
          </a:prstGeom>
          <a:solidFill>
            <a:srgbClr val="F7FBFF"/>
          </a:solidFill>
          <a:ln w="12700">
            <a:solidFill>
              <a:srgbClr val="DDEB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3319272"/>
            <a:ext cx="9692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 = x · (2Z[z] − 1)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z = (p̃ − 1/||x||) / √(p̃(1−p̃))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22960" y="5577840"/>
            <a:ext cx="10561320" cy="502920"/>
          </a:xfrm>
          <a:prstGeom prst="rect">
            <a:avLst/>
          </a:prstGeom>
          <a:solidFill>
            <a:srgbClr val="F7FBFF"/>
          </a:solidFill>
          <a:ln w="12700">
            <a:solidFill>
              <a:srgbClr val="DDEB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5705856"/>
            <a:ext cx="10104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</a:rPr>
              <a:t>The same logic works beyond binary classification.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64465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AFML · Chapter 10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018520" y="64465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13232"/>
            <a:ext cx="10881360" cy="0"/>
          </a:xfrm>
          <a:prstGeom prst="line">
            <a:avLst/>
          </a:prstGeom>
          <a:noFill/>
          <a:ln w="12700">
            <a:solidFill>
              <a:srgbClr val="DDE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Shape of probability-based sizing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60120" y="1234440"/>
            <a:ext cx="10241280" cy="4206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0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function 2Z(z)−1 is S-shaped.</a:t>
            </a:r>
            <a:endParaRPr lang="en-US" sz="2000" dirty="0"/>
          </a:p>
          <a:p>
            <a:r>
              <a:rPr lang="en-US" sz="20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Near z=0, bet size is near zero.</a:t>
            </a:r>
            <a:endParaRPr lang="en-US" sz="2000" dirty="0"/>
          </a:p>
          <a:p>
            <a:r>
              <a:rPr lang="en-US" sz="20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 confidence becomes extreme, bet size approaches −1 or +1.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2960" y="5577840"/>
            <a:ext cx="10561320" cy="502920"/>
          </a:xfrm>
          <a:prstGeom prst="rect">
            <a:avLst/>
          </a:prstGeom>
          <a:solidFill>
            <a:srgbClr val="F7FBFF"/>
          </a:solidFill>
          <a:ln w="12700">
            <a:solidFill>
              <a:srgbClr val="DDEB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5705856"/>
            <a:ext cx="10104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</a:rPr>
              <a:t>The sizing rule avoids all-in behavior for weak predictions.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64465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AFML · Chapter 10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18520" y="64465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13232"/>
            <a:ext cx="10881360" cy="0"/>
          </a:xfrm>
          <a:prstGeom prst="line">
            <a:avLst/>
          </a:prstGeom>
          <a:noFill/>
          <a:ln w="12700">
            <a:solidFill>
              <a:srgbClr val="DDE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simulated sizing may look noisy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60120" y="1234440"/>
            <a:ext cx="10241280" cy="4206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0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Bernoulli experiment creates noisy predicted probabilities around 0.5.</a:t>
            </a:r>
            <a:endParaRPr lang="en-US" sz="2000" dirty="0"/>
          </a:p>
          <a:p>
            <a:r>
              <a:rPr lang="en-US" sz="20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Direction x may flip across periods, so m can jump even when probability changes smoothly.</a:t>
            </a:r>
            <a:endParaRPr lang="en-US" sz="2000" dirty="0"/>
          </a:p>
          <a:p>
            <a:r>
              <a:rPr lang="en-US" sz="20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clean curve is a mapping; the simulation is a stochastic path through that mapping.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AFML · Chapter 10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018520" y="64465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13232"/>
            <a:ext cx="10881360" cy="0"/>
          </a:xfrm>
          <a:prstGeom prst="line">
            <a:avLst/>
          </a:prstGeom>
          <a:noFill/>
          <a:ln w="12700">
            <a:solidFill>
              <a:srgbClr val="DDE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Averaging active bets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60120" y="1234440"/>
            <a:ext cx="10241280" cy="4206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0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a given time, several signals may still be active.</a:t>
            </a:r>
            <a:endParaRPr lang="en-US" sz="2000" dirty="0"/>
          </a:p>
          <a:p>
            <a:r>
              <a:rPr lang="en-US" sz="20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the signal among all positions whose start time has occurred and whose end time has not arrived.</a:t>
            </a:r>
            <a:endParaRPr lang="en-US" sz="2000" dirty="0"/>
          </a:p>
          <a:p>
            <a:r>
              <a:rPr lang="en-US" sz="20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no signal is active, the average position is zero.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2960" y="5577840"/>
            <a:ext cx="10561320" cy="502920"/>
          </a:xfrm>
          <a:prstGeom prst="rect">
            <a:avLst/>
          </a:prstGeom>
          <a:solidFill>
            <a:srgbClr val="F7FBFF"/>
          </a:solidFill>
          <a:ln w="12700">
            <a:solidFill>
              <a:srgbClr val="DDEB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5705856"/>
            <a:ext cx="10104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</a:rPr>
              <a:t>Position at time t depends on open signals, not only the newest signal.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64465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AFML · Chapter 10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18520" y="64465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13232"/>
            <a:ext cx="10881360" cy="0"/>
          </a:xfrm>
          <a:prstGeom prst="line">
            <a:avLst/>
          </a:prstGeom>
          <a:noFill/>
          <a:ln w="12700">
            <a:solidFill>
              <a:srgbClr val="DDE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Size discretization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60120" y="1143000"/>
            <a:ext cx="10241280" cy="1920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signals can generate excessive turnover.</a:t>
            </a:r>
            <a:endParaRPr lang="en-US" sz="1800" dirty="0"/>
          </a:p>
          <a:p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Round the desired size to a grid step d, then cap it inside [−1, 1].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05840" y="3154680"/>
            <a:ext cx="10149840" cy="1280160"/>
          </a:xfrm>
          <a:prstGeom prst="rect">
            <a:avLst/>
          </a:prstGeom>
          <a:solidFill>
            <a:srgbClr val="F7FBFF"/>
          </a:solidFill>
          <a:ln w="12700">
            <a:solidFill>
              <a:srgbClr val="DDEB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3319272"/>
            <a:ext cx="9692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m* = round(m / d) · d,       d ∈ (0, 1]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22960" y="5577840"/>
            <a:ext cx="10561320" cy="502920"/>
          </a:xfrm>
          <a:prstGeom prst="rect">
            <a:avLst/>
          </a:prstGeom>
          <a:solidFill>
            <a:srgbClr val="F7FBFF"/>
          </a:solidFill>
          <a:ln w="12700">
            <a:solidFill>
              <a:srgbClr val="DDEB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5705856"/>
            <a:ext cx="10104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</a:rPr>
              <a:t>Discretization trades precision for lower turnover.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64465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AFML · Chapter 10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018520" y="64465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13232"/>
            <a:ext cx="10881360" cy="0"/>
          </a:xfrm>
          <a:prstGeom prst="line">
            <a:avLst/>
          </a:prstGeom>
          <a:noFill/>
          <a:ln w="12700">
            <a:solidFill>
              <a:srgbClr val="DDE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Dynamic bet size and limit price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60120" y="1234440"/>
            <a:ext cx="10241280" cy="4206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0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 size should adjust as the market price pₜ and forecast price fᵢ move.</a:t>
            </a:r>
            <a:endParaRPr lang="en-US" sz="2000" dirty="0"/>
          </a:p>
          <a:p>
            <a:r>
              <a:rPr lang="en-US" sz="20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 the market price approaches the forecast price, the desired position should shrink.</a:t>
            </a:r>
            <a:endParaRPr lang="en-US" sz="2000" dirty="0"/>
          </a:p>
          <a:p>
            <a:r>
              <a:rPr lang="en-US" sz="20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connects sizing with execution: how much to buy and at what limit price.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AFML · Chapter 10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018520" y="64465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13232"/>
            <a:ext cx="10881360" cy="0"/>
          </a:xfrm>
          <a:prstGeom prst="line">
            <a:avLst/>
          </a:prstGeom>
          <a:noFill/>
          <a:ln w="12700">
            <a:solidFill>
              <a:srgbClr val="DDE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Target position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60120" y="1143000"/>
            <a:ext cx="10241280" cy="1920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target position is the bounded bet size times the maximum position.</a:t>
            </a:r>
            <a:endParaRPr lang="en-US" sz="1800" dirty="0"/>
          </a:p>
          <a:p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function m(·) depends on forecast divergence fᵢ − pₜ and a curvature parameter ω.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05840" y="3154680"/>
            <a:ext cx="10149840" cy="1280160"/>
          </a:xfrm>
          <a:prstGeom prst="rect">
            <a:avLst/>
          </a:prstGeom>
          <a:solidFill>
            <a:srgbClr val="F7FBFF"/>
          </a:solidFill>
          <a:ln w="12700">
            <a:solidFill>
              <a:srgbClr val="DDEB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3319272"/>
            <a:ext cx="9692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q̂ᵢ,ₜ = int[ m(ω, fᵢ − pₜ) · Qₜ ]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−1 &lt; m &lt; 1,      −Qₜ &lt; q̂ᵢ,ₜ &lt; Qₜ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64465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AFML · Chapter 10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18520" y="64465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13232"/>
            <a:ext cx="10881360" cy="0"/>
          </a:xfrm>
          <a:prstGeom prst="line">
            <a:avLst/>
          </a:prstGeom>
          <a:noFill/>
          <a:ln w="12700">
            <a:solidFill>
              <a:srgbClr val="DDE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Sigmoid-style sizing function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60120" y="1143000"/>
            <a:ext cx="10241280" cy="1920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common choice is a smooth function bounded between −1 and +1.</a:t>
            </a:r>
            <a:endParaRPr lang="en-US" sz="1800" dirty="0"/>
          </a:p>
          <a:p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 pₜ → fᵢ, the divergence goes to zero and m → 0.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05840" y="3154680"/>
            <a:ext cx="10149840" cy="1280160"/>
          </a:xfrm>
          <a:prstGeom prst="rect">
            <a:avLst/>
          </a:prstGeom>
          <a:solidFill>
            <a:srgbClr val="F7FBFF"/>
          </a:solidFill>
          <a:ln w="12700">
            <a:solidFill>
              <a:srgbClr val="DDEB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3319272"/>
            <a:ext cx="9692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m(ω, x) = x / √(ω + x²)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 = fᵢ − pₜ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22960" y="5577840"/>
            <a:ext cx="10561320" cy="502920"/>
          </a:xfrm>
          <a:prstGeom prst="rect">
            <a:avLst/>
          </a:prstGeom>
          <a:solidFill>
            <a:srgbClr val="F7FBFF"/>
          </a:solidFill>
          <a:ln w="12700">
            <a:solidFill>
              <a:srgbClr val="DDEB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5705856"/>
            <a:ext cx="10104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</a:rPr>
              <a:t>ω controls how aggressively the position grows with forecast divergence.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64465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AFML · Chapter 10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018520" y="64465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13232"/>
            <a:ext cx="10881360" cy="0"/>
          </a:xfrm>
          <a:prstGeom prst="line">
            <a:avLst/>
          </a:prstGeom>
          <a:noFill/>
          <a:ln w="12700">
            <a:solidFill>
              <a:srgbClr val="DDE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Limit price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60120" y="1143000"/>
            <a:ext cx="10241280" cy="1920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every desired order size, choose a limit price designed to avoid losses.</a:t>
            </a:r>
            <a:endParaRPr lang="en-US" sz="1800" dirty="0"/>
          </a:p>
          <a:p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inverse sizing function maps each incremental unit into a price threshold.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05840" y="3154680"/>
            <a:ext cx="10149840" cy="1280160"/>
          </a:xfrm>
          <a:prstGeom prst="rect">
            <a:avLst/>
          </a:prstGeom>
          <a:solidFill>
            <a:srgbClr val="F7FBFF"/>
          </a:solidFill>
          <a:ln w="12700">
            <a:solidFill>
              <a:srgbClr val="DDEB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3319272"/>
            <a:ext cx="9692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p̄ = 1/(q̂ₜ−qₜ) · Σ L[fᵢ, ω, j/Q]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L[fᵢ,ω,m] = fᵢ − m √(ω/(1−m²))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22960" y="5577840"/>
            <a:ext cx="10561320" cy="502920"/>
          </a:xfrm>
          <a:prstGeom prst="rect">
            <a:avLst/>
          </a:prstGeom>
          <a:solidFill>
            <a:srgbClr val="F7FBFF"/>
          </a:solidFill>
          <a:ln w="12700">
            <a:solidFill>
              <a:srgbClr val="DDEB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5705856"/>
            <a:ext cx="10104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</a:rPr>
              <a:t>Execution price should be consistent with the forecast and the desired size.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64465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AFML · Chapter 10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018520" y="64465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13232"/>
            <a:ext cx="10881360" cy="0"/>
          </a:xfrm>
          <a:prstGeom prst="line">
            <a:avLst/>
          </a:prstGeom>
          <a:noFill/>
          <a:ln w="12700">
            <a:solidFill>
              <a:srgbClr val="DDE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Calibration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60120" y="1143000"/>
            <a:ext cx="10241280" cy="1920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ω so the sizing function reaches a desired m* at a chosen divergence x.</a:t>
            </a:r>
            <a:endParaRPr lang="en-US" sz="1800" dirty="0"/>
          </a:p>
          <a:p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logic: “when forecast-price gap is 10, desired bet size is 0.95.”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05840" y="3154680"/>
            <a:ext cx="10149840" cy="1280160"/>
          </a:xfrm>
          <a:prstGeom prst="rect">
            <a:avLst/>
          </a:prstGeom>
          <a:solidFill>
            <a:srgbClr val="F7FBFF"/>
          </a:solidFill>
          <a:ln w="12700">
            <a:solidFill>
              <a:srgbClr val="DDEB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3319272"/>
            <a:ext cx="9692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ω = x² · (m*⁻² − 1)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22960" y="5577840"/>
            <a:ext cx="10561320" cy="502920"/>
          </a:xfrm>
          <a:prstGeom prst="rect">
            <a:avLst/>
          </a:prstGeom>
          <a:solidFill>
            <a:srgbClr val="F7FBFF"/>
          </a:solidFill>
          <a:ln w="12700">
            <a:solidFill>
              <a:srgbClr val="DDEB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5705856"/>
            <a:ext cx="10104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</a:rPr>
              <a:t>Calibration turns a qualitative risk preference into a parameter.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64465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AFML · Chapter 10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018520" y="64465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13232"/>
            <a:ext cx="10881360" cy="0"/>
          </a:xfrm>
          <a:prstGeom prst="line">
            <a:avLst/>
          </a:prstGeom>
          <a:noFill/>
          <a:ln w="12700">
            <a:solidFill>
              <a:srgbClr val="DDE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Simulation example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60120" y="1234440"/>
            <a:ext cx="10241280" cy="4206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0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Maximum position Q = 100, current price pₜ = 100, forecast price fᵢ = 115.</a:t>
            </a:r>
            <a:endParaRPr lang="en-US" sz="2000" dirty="0"/>
          </a:p>
          <a:p>
            <a:r>
              <a:rPr lang="en-US" sz="20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Calibrating m*=0.95 at divergence 10 gives ω ≈ 10.80.</a:t>
            </a:r>
            <a:endParaRPr lang="en-US" sz="2000" dirty="0"/>
          </a:p>
          <a:p>
            <a:r>
              <a:rPr lang="en-US" sz="20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target position is about 97 units; the limit price is between current and forecast price.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2960" y="5577840"/>
            <a:ext cx="10561320" cy="502920"/>
          </a:xfrm>
          <a:prstGeom prst="rect">
            <a:avLst/>
          </a:prstGeom>
          <a:solidFill>
            <a:srgbClr val="F7FBFF"/>
          </a:solidFill>
          <a:ln w="12700">
            <a:solidFill>
              <a:srgbClr val="DDEB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5705856"/>
            <a:ext cx="10104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</a:rPr>
              <a:t>The limit price protects execution discipline even when the model is confident.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64465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AFML · Chapter 10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18520" y="64465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13232"/>
            <a:ext cx="10881360" cy="0"/>
          </a:xfrm>
          <a:prstGeom prst="line">
            <a:avLst/>
          </a:prstGeom>
          <a:noFill/>
          <a:ln w="12700">
            <a:solidFill>
              <a:srgbClr val="DDE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Power function alternative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60120" y="1143000"/>
            <a:ext cx="10241280" cy="1920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power function can also map normalized divergence into a bet size.</a:t>
            </a:r>
            <a:endParaRPr lang="en-US" sz="1800" dirty="0"/>
          </a:p>
          <a:p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Curvature is controlled by ω.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05840" y="3154680"/>
            <a:ext cx="10149840" cy="1280160"/>
          </a:xfrm>
          <a:prstGeom prst="rect">
            <a:avLst/>
          </a:prstGeom>
          <a:solidFill>
            <a:srgbClr val="F7FBFF"/>
          </a:solidFill>
          <a:ln w="12700">
            <a:solidFill>
              <a:srgbClr val="DDEB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3319272"/>
            <a:ext cx="9692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m[ω,x] = sgn[x] · |x|^ω,      x ∈ [−1,1], ω ≥ 0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m[ω,−1]=−1,      m[ω,1]=1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64465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AFML · Chapter 10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18520" y="64465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20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13232"/>
            <a:ext cx="10881360" cy="0"/>
          </a:xfrm>
          <a:prstGeom prst="line">
            <a:avLst/>
          </a:prstGeom>
          <a:noFill/>
          <a:ln w="12700">
            <a:solidFill>
              <a:srgbClr val="DDE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Power-function limit price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60120" y="1143000"/>
            <a:ext cx="10241280" cy="1920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inverse is simpler under the power-function specification.</a:t>
            </a:r>
            <a:endParaRPr lang="en-US" sz="1800" dirty="0"/>
          </a:p>
          <a:p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principle holds: limit price is tied to the desired incremental position.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05840" y="3154680"/>
            <a:ext cx="10149840" cy="1280160"/>
          </a:xfrm>
          <a:prstGeom prst="rect">
            <a:avLst/>
          </a:prstGeom>
          <a:solidFill>
            <a:srgbClr val="F7FBFF"/>
          </a:solidFill>
          <a:ln w="12700">
            <a:solidFill>
              <a:srgbClr val="DDEB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3319272"/>
            <a:ext cx="9692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L[fᵢ,ω,m] = fᵢ − m^(1/ω)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ω = log(m*) / log(x)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64465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AFML · Chapter 10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18520" y="64465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21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13232"/>
            <a:ext cx="10881360" cy="0"/>
          </a:xfrm>
          <a:prstGeom prst="line">
            <a:avLst/>
          </a:prstGeom>
          <a:noFill/>
          <a:ln w="12700">
            <a:solidFill>
              <a:srgbClr val="DDE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Long-only mixture model exercise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60120" y="1234440"/>
            <a:ext cx="10241280" cy="4206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0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exercise fits a mixture model to long-only mock data.</a:t>
            </a:r>
            <a:endParaRPr lang="en-US" sz="2000" dirty="0"/>
          </a:p>
          <a:p>
            <a:r>
              <a:rPr lang="en-US" sz="20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Estimated mixture parameters vary with sample size n.</a:t>
            </a:r>
            <a:endParaRPr lang="en-US" sz="2000" dirty="0"/>
          </a:p>
          <a:p>
            <a:r>
              <a:rPr lang="en-US" sz="20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point is not the exact numbers, but learning how signal distribution affects position sizing.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AFML · Chapter 10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018520" y="64465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22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13232"/>
            <a:ext cx="10881360" cy="0"/>
          </a:xfrm>
          <a:prstGeom prst="line">
            <a:avLst/>
          </a:prstGeom>
          <a:noFill/>
          <a:ln w="12700">
            <a:solidFill>
              <a:srgbClr val="DDE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Exercises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60120" y="1234440"/>
            <a:ext cx="10241280" cy="4206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0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Required: Exercise 10.1 and 10.2.</a:t>
            </a:r>
            <a:endParaRPr lang="en-US" sz="2000" dirty="0"/>
          </a:p>
          <a:p>
            <a:r>
              <a:rPr lang="en-US" sz="20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Recommended: Exercise 10.3 and 10.4.</a:t>
            </a:r>
            <a:endParaRPr lang="en-US" sz="2000" dirty="0"/>
          </a:p>
          <a:p>
            <a:r>
              <a:rPr lang="en-US" sz="20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Focus: translate predicted probabilities, active signals, and discretization into actual bet sizes.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AFML · Chapter 10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018520" y="64465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23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13232"/>
            <a:ext cx="10881360" cy="0"/>
          </a:xfrm>
          <a:prstGeom prst="line">
            <a:avLst/>
          </a:prstGeom>
          <a:noFill/>
          <a:ln w="12700">
            <a:solidFill>
              <a:srgbClr val="DDE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Lecture takeaway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60120" y="1234440"/>
            <a:ext cx="10241280" cy="4206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0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Forecasting answers “direction”; bet sizing answers “how much.”</a:t>
            </a:r>
            <a:endParaRPr lang="en-US" sz="2000" dirty="0"/>
          </a:p>
          <a:p>
            <a:r>
              <a:rPr lang="en-US" sz="20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sizing prevents weak signals from becoming large losses.</a:t>
            </a:r>
            <a:endParaRPr lang="en-US" sz="2000" dirty="0"/>
          </a:p>
          <a:p>
            <a:r>
              <a:rPr lang="en-US" sz="20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Dynamic sizing and limit prices connect machine learning to executable trading discipline.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AFML · Chapter 10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018520" y="64465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24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AFML Chapter 10: Bet Sizing</dc:title>
  <dc:subject>AFML Chapter 10 Bet Sizing</dc:subject>
  <dc:creator>OpenAI</dc:creator>
  <cp:lastModifiedBy>OpenAI</cp:lastModifiedBy>
  <cp:revision>1</cp:revision>
  <dcterms:created xsi:type="dcterms:W3CDTF">2026-09-01T10:54:20Z</dcterms:created>
  <dcterms:modified xsi:type="dcterms:W3CDTF">2026-09-01T10:54:20Z</dcterms:modified>
</cp:coreProperties>
</file>